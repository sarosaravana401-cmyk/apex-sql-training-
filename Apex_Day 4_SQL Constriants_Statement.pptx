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6" r:id="rId2"/>
    <p:sldId id="353" r:id="rId3"/>
    <p:sldId id="354" r:id="rId4"/>
    <p:sldId id="355" r:id="rId5"/>
    <p:sldId id="375" r:id="rId6"/>
    <p:sldId id="376" r:id="rId7"/>
    <p:sldId id="360" r:id="rId8"/>
    <p:sldId id="381" r:id="rId9"/>
    <p:sldId id="382" r:id="rId10"/>
    <p:sldId id="373" r:id="rId11"/>
    <p:sldId id="364" r:id="rId12"/>
    <p:sldId id="365" r:id="rId13"/>
    <p:sldId id="358" r:id="rId14"/>
    <p:sldId id="363" r:id="rId15"/>
    <p:sldId id="378" r:id="rId16"/>
    <p:sldId id="379" r:id="rId17"/>
    <p:sldId id="380" r:id="rId18"/>
    <p:sldId id="359" r:id="rId19"/>
    <p:sldId id="377" r:id="rId20"/>
    <p:sldId id="383" r:id="rId21"/>
    <p:sldId id="384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96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4" r:id="rId40"/>
    <p:sldId id="395" r:id="rId41"/>
    <p:sldId id="420" r:id="rId42"/>
    <p:sldId id="421" r:id="rId43"/>
    <p:sldId id="422" r:id="rId44"/>
    <p:sldId id="423" r:id="rId45"/>
    <p:sldId id="397" r:id="rId46"/>
    <p:sldId id="398" r:id="rId47"/>
    <p:sldId id="399" r:id="rId48"/>
    <p:sldId id="400" r:id="rId49"/>
    <p:sldId id="401" r:id="rId50"/>
    <p:sldId id="402" r:id="rId51"/>
    <p:sldId id="403" r:id="rId52"/>
    <p:sldId id="404" r:id="rId53"/>
    <p:sldId id="405" r:id="rId54"/>
    <p:sldId id="406" r:id="rId55"/>
    <p:sldId id="407" r:id="rId56"/>
    <p:sldId id="408" r:id="rId57"/>
    <p:sldId id="409" r:id="rId58"/>
    <p:sldId id="410" r:id="rId59"/>
    <p:sldId id="411" r:id="rId60"/>
    <p:sldId id="412" r:id="rId61"/>
    <p:sldId id="413" r:id="rId62"/>
    <p:sldId id="414" r:id="rId63"/>
    <p:sldId id="415" r:id="rId64"/>
    <p:sldId id="416" r:id="rId65"/>
    <p:sldId id="417" r:id="rId66"/>
    <p:sldId id="418" r:id="rId67"/>
    <p:sldId id="419" r:id="rId68"/>
    <p:sldId id="424" r:id="rId69"/>
    <p:sldId id="425" r:id="rId70"/>
    <p:sldId id="426" r:id="rId71"/>
    <p:sldId id="427" r:id="rId72"/>
    <p:sldId id="428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yaprakash Subramaniam - Adjunct Faculty (WD)" initials="JS" lastIdx="1" clrIdx="0">
    <p:extLst>
      <p:ext uri="{19B8F6BF-5375-455C-9EA6-DF929625EA0E}">
        <p15:presenceInfo xmlns:p15="http://schemas.microsoft.com/office/powerpoint/2012/main" userId="S::t_jayaprakash@lithan.com::192e341b-a3c5-41d9-b96d-6300f977b4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415" autoAdjust="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A6BBC8-21A1-3C7C-BB5E-79DDD1E331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2CC2-8C2A-77F0-D23B-01B5C85929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05716-FF77-4C04-95E2-80BFA64D56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C76AB-CE7A-82EE-06B2-06820305E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471A5-50A9-59A8-C6DE-E6D8164E72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5E072-D72A-4A05-81AE-5B169961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32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21A1-ADDB-4E33-950C-F0BAB0A7249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0D455-6D77-41DB-BB86-FD17B72B0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8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37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9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9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2CC6AD-1634-D603-CAF7-E78458F3E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336" y="0"/>
            <a:ext cx="1225133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AC3842-5CE0-8979-B31D-6D2A646AC4D7}"/>
              </a:ext>
            </a:extLst>
          </p:cNvPr>
          <p:cNvSpPr/>
          <p:nvPr userDrawn="1"/>
        </p:nvSpPr>
        <p:spPr>
          <a:xfrm>
            <a:off x="167019" y="1091327"/>
            <a:ext cx="554830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en-US" sz="6000" b="1" u="none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Apex Seekers</a:t>
            </a:r>
          </a:p>
          <a:p>
            <a:pPr algn="l"/>
            <a:endParaRPr lang="en-US" sz="6000" b="1" u="none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D3760-82C8-7E8E-BF98-92DCB66E4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1005" t="-210851" r="671005" b="255382"/>
          <a:stretch/>
        </p:blipFill>
        <p:spPr>
          <a:xfrm>
            <a:off x="5715320" y="2645228"/>
            <a:ext cx="837560" cy="869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B2721D-098D-C25D-211F-90A40949A6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30"/>
          <a:stretch/>
        </p:blipFill>
        <p:spPr>
          <a:xfrm>
            <a:off x="11354440" y="6049744"/>
            <a:ext cx="837560" cy="8177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521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FCE5-B83C-EBEE-C377-3A0DCBC0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3BD-7EE5-A590-8A97-F64226E2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24849-09C7-8EE7-3BF7-5E99BEC5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5E7B-0427-EECD-0A46-08FAA3E4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1E45-97C3-4AF8-53E9-B0BF42E7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02A-E26B-7A6B-B9F9-45FDF1C7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9F843-0BC5-DF32-177D-C4B0A2DF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E06E8-9EF4-A1A3-5862-5FB2A510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B023-6C19-1E1C-44AC-7DFE6CDF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75BB-7EE3-F369-D0CB-98CA433FA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6DFD2-0B6C-EA87-41FA-F0828C491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8684A-5C55-7BF8-15FF-997C9837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3EABD-1F72-056B-F481-03A6DBAC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39C81-34FA-EF96-F566-DFE81D30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8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FE0E-50F0-3E1E-2B26-A45FA9BE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12815-5591-751B-782F-8D7F56D63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B6694-5446-270B-9581-59E7D94A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2E6FB-65FF-E12D-1AF5-49FB780E5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9E7B9-2465-F615-4665-DD59414D4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D30E9-C85A-3115-8AF0-9E1764A3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C1543C-7475-1019-765C-D974CF04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F194F-0E13-80B6-3CCE-3A6ABAF4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D23A-C3EF-7639-50DA-14EBA84B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CADA4-DF17-DA34-A0F8-496E73EF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CB147-5E3E-3DA8-1E13-F9133406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DFABD-658C-E237-7A6F-58A1691C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8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F1BBE-21D4-42A3-B50B-CA043FE3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F4D2B-E157-590D-54B1-0A9E0FC6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0632B-50D0-41D1-E303-49FC0B33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9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98B0-BF8D-F5A5-3B14-FB736F2A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F90F8-7AAC-201C-D41F-D091B496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01CDA-ACEB-AEDB-31CE-12288013C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22E2B-7964-9D04-8BE1-D4E5E1F1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F0EC-1E3B-4325-9908-27205E79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AAF6C-36B3-D504-96AE-E22AB168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0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CC22-EEA4-1617-7EE1-0436895F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0E0B8-18BD-2A23-32AC-AC601BA04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DFF94-AFB6-C793-0C2C-3C21F5F47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DCA0E-40CC-10BA-6A8E-3F056D45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8E28F-4D37-3A1E-4966-FB29365B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C59A0-C3A3-C197-437D-B31652EAF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F12D-0A87-C478-11F9-71AB2CF7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1CA44-B854-D36A-E726-80D8ABD3F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9902-6394-64B7-0ED5-28ECFBB8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3B08-48B5-7302-CE93-D121C4A4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2FAE4-DBA5-7D0E-50C9-9D70A01D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2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2A57F-283E-F049-9F13-ACD6D1E7A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C4C50-FB25-AEAD-9856-3409E9738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C7294-835D-39EB-8B2D-0E3155CF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B37F-BFAB-5560-2853-6252137F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9E5A-369F-A385-212A-6AC911E2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63C03D-5AB3-13F1-7F5D-987CBCF39C0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150"/>
            <a:ext cx="12192000" cy="60388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2790-DE33-6C09-B17D-545C67BDF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B8951-1772-05E9-FF0E-834FC495AA51}"/>
              </a:ext>
            </a:extLst>
          </p:cNvPr>
          <p:cNvSpPr/>
          <p:nvPr userDrawn="1"/>
        </p:nvSpPr>
        <p:spPr>
          <a:xfrm>
            <a:off x="0" y="0"/>
            <a:ext cx="12192000" cy="8858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1000"/>
                  <a:alpha val="53000"/>
                </a:schemeClr>
              </a:gs>
              <a:gs pos="38000">
                <a:schemeClr val="accent1">
                  <a:satMod val="110000"/>
                  <a:shade val="100000"/>
                  <a:lumMod val="44000"/>
                </a:schemeClr>
              </a:gs>
              <a:gs pos="100000">
                <a:schemeClr val="accent1">
                  <a:satMod val="120000"/>
                  <a:shade val="78000"/>
                  <a:lumMod val="90000"/>
                </a:schemeClr>
              </a:gs>
            </a:gsLst>
            <a:lin ang="8100000" scaled="1"/>
            <a:tileRect/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B4AC4A-7088-6962-5EBB-A2EE148E7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23"/>
          <a:stretch/>
        </p:blipFill>
        <p:spPr>
          <a:xfrm>
            <a:off x="11353800" y="6066745"/>
            <a:ext cx="837560" cy="7912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27DD472-4C5D-9F23-F0D6-32BDBC571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617B1-20AD-9793-CA15-0305E734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206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LEARNING JOURNEY</a:t>
            </a:r>
          </a:p>
        </p:txBody>
      </p:sp>
    </p:spTree>
    <p:extLst>
      <p:ext uri="{BB962C8B-B14F-4D97-AF65-F5344CB8AC3E}">
        <p14:creationId xmlns:p14="http://schemas.microsoft.com/office/powerpoint/2010/main" val="161495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mailto:meena@gmail.com" TargetMode="External"/><Relationship Id="rId2" Type="http://schemas.openxmlformats.org/officeDocument/2006/relationships/hyperlink" Target="mailto:arun@gmail.com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4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1975" y="104774"/>
            <a:ext cx="8229600" cy="8284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SQL -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1702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Constraints are the rules enforced on the </a:t>
            </a:r>
            <a:r>
              <a:rPr lang="en-US" sz="2400" dirty="0">
                <a:solidFill>
                  <a:srgbClr val="C00000"/>
                </a:solidFill>
              </a:rPr>
              <a:t>data columns </a:t>
            </a:r>
            <a:r>
              <a:rPr lang="en-US" sz="2400" dirty="0"/>
              <a:t>of a table. 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Constraints could be either on a </a:t>
            </a:r>
            <a:r>
              <a:rPr lang="en-US" sz="2400" dirty="0">
                <a:solidFill>
                  <a:srgbClr val="C00000"/>
                </a:solidFill>
              </a:rPr>
              <a:t>column level </a:t>
            </a:r>
            <a:r>
              <a:rPr lang="en-US" sz="2400" dirty="0"/>
              <a:t>or a </a:t>
            </a:r>
            <a:r>
              <a:rPr lang="en-US" sz="2400" dirty="0">
                <a:solidFill>
                  <a:srgbClr val="C00000"/>
                </a:solidFill>
              </a:rPr>
              <a:t>table level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column level constraints </a:t>
            </a:r>
            <a:r>
              <a:rPr lang="en-US" sz="2400" dirty="0"/>
              <a:t>are applied only to one column, whereas the </a:t>
            </a:r>
            <a:r>
              <a:rPr lang="en-US" sz="2400" dirty="0">
                <a:solidFill>
                  <a:srgbClr val="C00000"/>
                </a:solidFill>
              </a:rPr>
              <a:t>table level constraints </a:t>
            </a:r>
            <a:r>
              <a:rPr lang="en-US" sz="2400" dirty="0"/>
              <a:t>are applied to the whole table.</a:t>
            </a:r>
          </a:p>
        </p:txBody>
      </p:sp>
      <p:sp>
        <p:nvSpPr>
          <p:cNvPr id="5" name="AutoShape 2" descr="Image result for constraints in oracle 11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Image result for constraints in oracle 11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42" y="4560218"/>
            <a:ext cx="49911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3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230" y="1055801"/>
            <a:ext cx="11293413" cy="6230215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v"/>
            </a:pPr>
            <a:r>
              <a:rPr lang="en-US" sz="2200" b="1" dirty="0"/>
              <a:t>NOT NULL</a:t>
            </a:r>
            <a:r>
              <a:rPr lang="en-US" sz="2200" dirty="0"/>
              <a:t>:  we </a:t>
            </a:r>
            <a:r>
              <a:rPr lang="en-US" sz="2200" dirty="0">
                <a:solidFill>
                  <a:srgbClr val="FF0000"/>
                </a:solidFill>
              </a:rPr>
              <a:t>cannot store a null value </a:t>
            </a:r>
            <a:r>
              <a:rPr lang="en-US" sz="2200" dirty="0"/>
              <a:t>in a column. That is, if a column is specified as</a:t>
            </a:r>
          </a:p>
          <a:p>
            <a:pPr marL="0" indent="0" fontAlgn="base">
              <a:buNone/>
            </a:pPr>
            <a:r>
              <a:rPr lang="en-US" sz="2200" dirty="0"/>
              <a:t>                         </a:t>
            </a:r>
            <a:r>
              <a:rPr lang="en-US" sz="2200" b="1" dirty="0"/>
              <a:t>NOT NULL.</a:t>
            </a:r>
          </a:p>
          <a:p>
            <a:pPr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sz="2200" b="1" dirty="0"/>
              <a:t>UNIQUE</a:t>
            </a:r>
            <a:r>
              <a:rPr lang="en-US" sz="2200" dirty="0"/>
              <a:t>: This constraint when specified with a column, tells that all the values in the </a:t>
            </a:r>
            <a:r>
              <a:rPr lang="en-US" sz="2200" dirty="0">
                <a:solidFill>
                  <a:srgbClr val="FF0000"/>
                </a:solidFill>
              </a:rPr>
              <a:t>column must be unique</a:t>
            </a:r>
            <a:r>
              <a:rPr lang="en-US" sz="2200" dirty="0"/>
              <a:t>. That is, the values in </a:t>
            </a:r>
            <a:r>
              <a:rPr lang="en-US" sz="2200" b="1" dirty="0"/>
              <a:t>any row of a column must not be repeated</a:t>
            </a:r>
            <a:r>
              <a:rPr lang="en-US" sz="2200" dirty="0"/>
              <a:t>. </a:t>
            </a:r>
            <a:r>
              <a:rPr lang="en-US" sz="2200" b="1" dirty="0">
                <a:solidFill>
                  <a:srgbClr val="FF0000"/>
                </a:solidFill>
              </a:rPr>
              <a:t>null</a:t>
            </a:r>
            <a:r>
              <a:rPr lang="en-US" sz="2200" b="1" dirty="0"/>
              <a:t> value </a:t>
            </a:r>
            <a:r>
              <a:rPr lang="en-US" sz="2200" b="1" dirty="0">
                <a:solidFill>
                  <a:srgbClr val="FF0000"/>
                </a:solidFill>
              </a:rPr>
              <a:t>accepted</a:t>
            </a:r>
          </a:p>
          <a:p>
            <a:pPr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sz="2200" b="1" dirty="0"/>
              <a:t>PRIMARY KEY</a:t>
            </a:r>
            <a:r>
              <a:rPr lang="en-US" sz="2200" dirty="0"/>
              <a:t>: A primary key is a field which can </a:t>
            </a:r>
            <a:r>
              <a:rPr lang="en-US" sz="2200" dirty="0">
                <a:solidFill>
                  <a:srgbClr val="FF0000"/>
                </a:solidFill>
              </a:rPr>
              <a:t>uniquely identify each row in a table</a:t>
            </a:r>
            <a:r>
              <a:rPr lang="en-US" sz="2200" dirty="0"/>
              <a:t>. And this constraint is used to specify a field in a table as primary key. </a:t>
            </a:r>
            <a:r>
              <a:rPr lang="en-US" sz="2200" b="1" dirty="0"/>
              <a:t>null  value not accepted</a:t>
            </a:r>
          </a:p>
          <a:p>
            <a:pPr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sz="2200" b="1" dirty="0"/>
              <a:t>FOREIGN KEY</a:t>
            </a:r>
            <a:r>
              <a:rPr lang="en-US" sz="2200" dirty="0"/>
              <a:t>: A Foreign key is a field which can </a:t>
            </a:r>
            <a:r>
              <a:rPr lang="en-US" sz="2200" dirty="0">
                <a:solidFill>
                  <a:srgbClr val="FF0000"/>
                </a:solidFill>
              </a:rPr>
              <a:t>uniquely identify each row in a another table</a:t>
            </a:r>
            <a:r>
              <a:rPr lang="en-US" sz="2200" dirty="0"/>
              <a:t>. And this constraint is used to specify a field as Foreign key.</a:t>
            </a:r>
          </a:p>
          <a:p>
            <a:pPr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sz="2200" b="1" dirty="0"/>
              <a:t>CHECK</a:t>
            </a:r>
            <a:r>
              <a:rPr lang="en-US" sz="2200" dirty="0"/>
              <a:t>: This constraint helps to </a:t>
            </a:r>
            <a:r>
              <a:rPr lang="en-US" sz="2200" dirty="0">
                <a:solidFill>
                  <a:srgbClr val="FF0000"/>
                </a:solidFill>
              </a:rPr>
              <a:t>validate the values of a column to meet </a:t>
            </a:r>
            <a:r>
              <a:rPr lang="en-US" sz="2200" dirty="0"/>
              <a:t>a particular condition. That is, it helps to ensure that the value stored in a column meets a specific condition.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A6567-E8DB-B63C-BD6D-A2C885244E5D}"/>
              </a:ext>
            </a:extLst>
          </p:cNvPr>
          <p:cNvSpPr txBox="1"/>
          <p:nvPr/>
        </p:nvSpPr>
        <p:spPr>
          <a:xfrm>
            <a:off x="584110" y="70960"/>
            <a:ext cx="61604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SQL - Constraints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535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00" y="310166"/>
            <a:ext cx="8229600" cy="1524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Syntax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7787" y="758757"/>
            <a:ext cx="9503924" cy="6021422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CREATE TABLE </a:t>
            </a:r>
            <a:r>
              <a:rPr lang="en-US" sz="2400" b="1" dirty="0" err="1"/>
              <a:t>sample_table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dirty="0"/>
              <a:t>      ( column1 </a:t>
            </a:r>
            <a:r>
              <a:rPr lang="en-US" sz="2400" dirty="0" err="1"/>
              <a:t>data_type</a:t>
            </a:r>
            <a:r>
              <a:rPr lang="en-US" sz="2400" dirty="0"/>
              <a:t>(size) </a:t>
            </a:r>
            <a:r>
              <a:rPr lang="en-US" sz="2400" dirty="0" err="1"/>
              <a:t>constraint_name</a:t>
            </a:r>
            <a:r>
              <a:rPr lang="en-US" sz="2400" dirty="0"/>
              <a:t>, </a:t>
            </a:r>
          </a:p>
          <a:p>
            <a:pPr marL="0" indent="0">
              <a:buNone/>
            </a:pPr>
            <a:r>
              <a:rPr lang="en-US" sz="2400" dirty="0"/>
              <a:t>         column2 </a:t>
            </a:r>
            <a:r>
              <a:rPr lang="en-US" sz="2400" dirty="0" err="1"/>
              <a:t>data_type</a:t>
            </a:r>
            <a:r>
              <a:rPr lang="en-US" sz="2400" dirty="0"/>
              <a:t>(size) </a:t>
            </a:r>
            <a:r>
              <a:rPr lang="en-US" sz="2400" dirty="0" err="1"/>
              <a:t>constraint_name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         column3 </a:t>
            </a:r>
            <a:r>
              <a:rPr lang="en-US" sz="2400" dirty="0" err="1"/>
              <a:t>data_type</a:t>
            </a:r>
            <a:r>
              <a:rPr lang="en-US" sz="2400" dirty="0"/>
              <a:t>(size) </a:t>
            </a:r>
            <a:r>
              <a:rPr lang="en-US" sz="2400" dirty="0" err="1"/>
              <a:t>constraint_name</a:t>
            </a:r>
            <a:r>
              <a:rPr lang="en-US" sz="2400" dirty="0"/>
              <a:t>, .... );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sample_table</a:t>
            </a:r>
            <a:r>
              <a:rPr lang="en-US" sz="2400" b="1" dirty="0">
                <a:solidFill>
                  <a:srgbClr val="FF0000"/>
                </a:solidFill>
              </a:rPr>
              <a:t>       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Name of the table to be created.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data_type</a:t>
            </a:r>
            <a:r>
              <a:rPr lang="en-US" sz="2400" b="1" dirty="0">
                <a:solidFill>
                  <a:srgbClr val="FF0000"/>
                </a:solidFill>
              </a:rPr>
              <a:t>	     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Type of data that can be stored in the field. </a:t>
            </a:r>
            <a:r>
              <a:rPr lang="en-US" sz="2400" b="1" dirty="0" err="1">
                <a:solidFill>
                  <a:srgbClr val="FF0000"/>
                </a:solidFill>
              </a:rPr>
              <a:t>constraint_name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Name of the constraint.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for example- </a:t>
            </a:r>
            <a:r>
              <a:rPr lang="en-US" sz="2000" dirty="0">
                <a:solidFill>
                  <a:srgbClr val="FF0000"/>
                </a:solidFill>
              </a:rPr>
              <a:t>NOT NULL, UNIQUE, PRIMARY KEY </a:t>
            </a:r>
            <a:r>
              <a:rPr lang="en-US" sz="2000" dirty="0"/>
              <a:t>etc.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904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2DB1-F0AD-9AC0-D3BB-B2D53A87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NOT NULL Constraint (on Student table)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83DB-3158-133A-1816-A34F2139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1" y="1825625"/>
            <a:ext cx="1226427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b="1" dirty="0"/>
              <a:t>Student11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 err="1"/>
              <a:t>StudentID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Name</a:t>
            </a:r>
            <a:r>
              <a:rPr lang="en-US" dirty="0"/>
              <a:t> VARCHAR(50) NOT NULL  );  </a:t>
            </a:r>
            <a:r>
              <a:rPr lang="en-US" b="1" dirty="0"/>
              <a:t>-- Cannot be NULL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dirty="0"/>
              <a:t>INSERT INTO Student11 (</a:t>
            </a:r>
            <a:r>
              <a:rPr lang="en-US" sz="2400" dirty="0" err="1"/>
              <a:t>StudentID</a:t>
            </a:r>
            <a:r>
              <a:rPr lang="en-US" sz="2400" dirty="0"/>
              <a:t>, Name) VALUES (1, 'Anjali');   </a:t>
            </a:r>
            <a:r>
              <a:rPr lang="en-US" sz="2400" b="1" dirty="0"/>
              <a:t>--   OK</a:t>
            </a:r>
          </a:p>
          <a:p>
            <a:pPr marL="0" indent="0">
              <a:buNone/>
            </a:pPr>
            <a:r>
              <a:rPr lang="en-US" sz="2400" dirty="0"/>
              <a:t>INSERT INTO Student11 (</a:t>
            </a:r>
            <a:r>
              <a:rPr lang="en-US" sz="2400" dirty="0" err="1"/>
              <a:t>StudentID</a:t>
            </a:r>
            <a:r>
              <a:rPr lang="en-US" sz="2400" dirty="0"/>
              <a:t>, Name) VALUES (2, </a:t>
            </a:r>
            <a:r>
              <a:rPr lang="en-US" sz="2400" b="1" dirty="0">
                <a:solidFill>
                  <a:srgbClr val="FF0000"/>
                </a:solidFill>
              </a:rPr>
              <a:t>NULL</a:t>
            </a:r>
            <a:r>
              <a:rPr lang="en-US" sz="2400" dirty="0"/>
              <a:t>);      </a:t>
            </a:r>
            <a:r>
              <a:rPr lang="en-US" sz="2400" b="1" dirty="0"/>
              <a:t>--   Error: Name cannot be NULL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67898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635F-AD9A-AF7E-677F-23D40FF1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UNIQUE </a:t>
            </a:r>
            <a:r>
              <a:rPr lang="fr-FR" dirty="0" err="1">
                <a:solidFill>
                  <a:schemeClr val="bg1"/>
                </a:solidFill>
              </a:rPr>
              <a:t>Constraint</a:t>
            </a:r>
            <a:r>
              <a:rPr lang="fr-FR" dirty="0">
                <a:solidFill>
                  <a:schemeClr val="bg1"/>
                </a:solidFill>
              </a:rPr>
              <a:t> (on </a:t>
            </a:r>
            <a:r>
              <a:rPr lang="fr-FR" dirty="0" err="1">
                <a:solidFill>
                  <a:schemeClr val="bg1"/>
                </a:solidFill>
              </a:rPr>
              <a:t>Student</a:t>
            </a:r>
            <a:r>
              <a:rPr lang="fr-FR" dirty="0">
                <a:solidFill>
                  <a:schemeClr val="bg1"/>
                </a:solidFill>
              </a:rPr>
              <a:t> table)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66E47-A9C6-73DB-C127-5078CB03C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82494"/>
            <a:ext cx="11501488" cy="51944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Student12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Email VARCHAR(100) </a:t>
            </a:r>
            <a:r>
              <a:rPr lang="en-US" b="1" dirty="0"/>
              <a:t>UNIQUE</a:t>
            </a:r>
            <a:r>
              <a:rPr lang="en-US" dirty="0"/>
              <a:t>  );   </a:t>
            </a:r>
            <a:r>
              <a:rPr lang="en-US" b="1" dirty="0"/>
              <a:t>-- Email must be unique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000" dirty="0"/>
              <a:t>INSERT INTO Student3 (</a:t>
            </a:r>
            <a:r>
              <a:rPr lang="en-US" sz="2000" dirty="0" err="1"/>
              <a:t>StudentID</a:t>
            </a:r>
            <a:r>
              <a:rPr lang="en-US" sz="2000" dirty="0"/>
              <a:t>, Email) VALUES (1, </a:t>
            </a:r>
            <a:r>
              <a:rPr lang="en-US" sz="2000" dirty="0">
                <a:solidFill>
                  <a:srgbClr val="FF0000"/>
                </a:solidFill>
              </a:rPr>
              <a:t>'a@abc.com</a:t>
            </a:r>
            <a:r>
              <a:rPr lang="en-US" sz="2000" dirty="0"/>
              <a:t>');    --  OK</a:t>
            </a:r>
          </a:p>
          <a:p>
            <a:pPr marL="0" indent="0">
              <a:buNone/>
            </a:pPr>
            <a:r>
              <a:rPr lang="en-US" sz="2000" dirty="0"/>
              <a:t>INSERT INTO Student3 (</a:t>
            </a:r>
            <a:r>
              <a:rPr lang="en-US" sz="2000" dirty="0" err="1"/>
              <a:t>StudentID</a:t>
            </a:r>
            <a:r>
              <a:rPr lang="en-US" sz="2000" dirty="0"/>
              <a:t>, Email) VALUES (2, </a:t>
            </a:r>
            <a:r>
              <a:rPr lang="en-US" sz="2000" dirty="0">
                <a:solidFill>
                  <a:srgbClr val="FF0000"/>
                </a:solidFill>
              </a:rPr>
              <a:t>'a@abc.com</a:t>
            </a:r>
            <a:r>
              <a:rPr lang="en-US" sz="2000" dirty="0"/>
              <a:t>');    --  Error: </a:t>
            </a:r>
            <a:r>
              <a:rPr lang="en-US" sz="2000" b="1" dirty="0"/>
              <a:t>Duplicate Email</a:t>
            </a:r>
          </a:p>
          <a:p>
            <a:pPr marL="0" indent="0">
              <a:buNone/>
            </a:pPr>
            <a:r>
              <a:rPr lang="en-US" sz="2000" dirty="0"/>
              <a:t>INSERT INTO Student3 (</a:t>
            </a:r>
            <a:r>
              <a:rPr lang="en-US" sz="2000" dirty="0" err="1"/>
              <a:t>StudentID</a:t>
            </a:r>
            <a:r>
              <a:rPr lang="en-US" sz="2000" dirty="0"/>
              <a:t>, Email) VALUES (3, null);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0A90B0-68FB-CDA9-ADC4-7DC5C120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118" y="4769570"/>
            <a:ext cx="6274903" cy="18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3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16" y="460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CHECK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660" y="1032433"/>
            <a:ext cx="10747041" cy="55460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Using the CHECK </a:t>
            </a:r>
            <a:r>
              <a:rPr lang="en-US" b="1" dirty="0"/>
              <a:t>constraint</a:t>
            </a:r>
            <a:r>
              <a:rPr lang="en-US" dirty="0"/>
              <a:t> we can specify a condition for a field, which should be </a:t>
            </a:r>
            <a:r>
              <a:rPr lang="en-US" b="1" dirty="0">
                <a:solidFill>
                  <a:srgbClr val="FF0000"/>
                </a:solidFill>
              </a:rPr>
              <a:t>satisfied at the time of entering values for this field.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CREATE TABLE student7</a:t>
            </a:r>
          </a:p>
          <a:p>
            <a:pPr marL="0" indent="0">
              <a:buNone/>
            </a:pPr>
            <a:r>
              <a:rPr lang="en-US" sz="2400" dirty="0"/>
              <a:t>(</a:t>
            </a:r>
          </a:p>
          <a:p>
            <a:pPr marL="0" indent="0">
              <a:buNone/>
            </a:pPr>
            <a:r>
              <a:rPr lang="en-US" sz="2400" dirty="0"/>
              <a:t> ID int NOT NULL,</a:t>
            </a:r>
          </a:p>
          <a:p>
            <a:pPr marL="0" indent="0">
              <a:buNone/>
            </a:pPr>
            <a:r>
              <a:rPr lang="en-US" sz="2400" dirty="0"/>
              <a:t> NAME varchar(10) NOT NULL, </a:t>
            </a:r>
          </a:p>
          <a:p>
            <a:pPr marL="0" indent="0">
              <a:buNone/>
            </a:pPr>
            <a:r>
              <a:rPr lang="en-US" sz="2400" dirty="0"/>
              <a:t> AGE  int NOT NULL , </a:t>
            </a:r>
            <a:r>
              <a:rPr lang="en-US" sz="2400" b="1" dirty="0">
                <a:solidFill>
                  <a:srgbClr val="FF0000"/>
                </a:solidFill>
              </a:rPr>
              <a:t>CHECK</a:t>
            </a:r>
            <a:r>
              <a:rPr lang="en-US" sz="2400" dirty="0">
                <a:solidFill>
                  <a:srgbClr val="FF0000"/>
                </a:solidFill>
              </a:rPr>
              <a:t> (</a:t>
            </a:r>
            <a:r>
              <a:rPr lang="en-US" sz="2400" b="1" dirty="0">
                <a:solidFill>
                  <a:srgbClr val="FF0000"/>
                </a:solidFill>
              </a:rPr>
              <a:t>AGE &gt;= 18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);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insert into student7 values(1001,'jayaprakash',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student7 values(1002,'Latha',</a:t>
            </a:r>
            <a:r>
              <a:rPr lang="en-US" dirty="0">
                <a:solidFill>
                  <a:srgbClr val="FF0000"/>
                </a:solidFill>
              </a:rPr>
              <a:t>17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Check constraint 'student7_chk_1' is violated.</a:t>
            </a:r>
          </a:p>
        </p:txBody>
      </p:sp>
    </p:spTree>
    <p:extLst>
      <p:ext uri="{BB962C8B-B14F-4D97-AF65-F5344CB8AC3E}">
        <p14:creationId xmlns:p14="http://schemas.microsoft.com/office/powerpoint/2010/main" val="65836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22B0-A92C-5B95-FA95-7589864F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DEFAULT Constraint (on Student Status)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F686-9F69-8F45-0770-EE9CCF02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221"/>
            <a:ext cx="10515600" cy="51847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CREATE TABLE Student6 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StudentID</a:t>
            </a:r>
            <a:r>
              <a:rPr lang="en-IN" dirty="0"/>
              <a:t> INT PRIMARY KEY,</a:t>
            </a:r>
          </a:p>
          <a:p>
            <a:pPr marL="0" indent="0">
              <a:buNone/>
            </a:pPr>
            <a:r>
              <a:rPr lang="en-IN" dirty="0"/>
              <a:t>    Name VARCHAR(50),</a:t>
            </a:r>
          </a:p>
          <a:p>
            <a:pPr marL="0" indent="0">
              <a:buNone/>
            </a:pPr>
            <a:r>
              <a:rPr lang="en-IN" dirty="0"/>
              <a:t>    Status VARCHAR(20) </a:t>
            </a:r>
            <a:r>
              <a:rPr lang="en-IN" b="1" dirty="0">
                <a:solidFill>
                  <a:srgbClr val="FF0000"/>
                </a:solidFill>
              </a:rPr>
              <a:t>DEFAULT 'Active'       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-- Don't provide status</a:t>
            </a:r>
          </a:p>
          <a:p>
            <a:pPr marL="0" indent="0">
              <a:buNone/>
            </a:pPr>
            <a:r>
              <a:rPr lang="en-IN" dirty="0"/>
              <a:t>INSERT INTO Student6 (</a:t>
            </a:r>
            <a:r>
              <a:rPr lang="en-IN" dirty="0" err="1"/>
              <a:t>StudentID</a:t>
            </a:r>
            <a:r>
              <a:rPr lang="en-IN" dirty="0"/>
              <a:t>, Name) VALUES (1, 'Nisha');  </a:t>
            </a:r>
          </a:p>
          <a:p>
            <a:pPr marL="0" indent="0">
              <a:buNone/>
            </a:pPr>
            <a:r>
              <a:rPr lang="en-IN" b="1" dirty="0"/>
              <a:t>-- Status will be 'Active'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Provide status explicitly</a:t>
            </a:r>
          </a:p>
          <a:p>
            <a:pPr marL="0" indent="0">
              <a:buNone/>
            </a:pPr>
            <a:r>
              <a:rPr lang="en-IN" dirty="0"/>
              <a:t>INSERT INTO Student6 (</a:t>
            </a:r>
            <a:r>
              <a:rPr lang="en-IN" dirty="0" err="1"/>
              <a:t>StudentID</a:t>
            </a:r>
            <a:r>
              <a:rPr lang="en-IN" dirty="0"/>
              <a:t>, Name, Status) VALUES (2, 'Kishore', 'I</a:t>
            </a:r>
            <a:r>
              <a:rPr lang="en-IN" b="1" dirty="0"/>
              <a:t>nactive</a:t>
            </a:r>
            <a:r>
              <a:rPr lang="en-IN" dirty="0"/>
              <a:t>');  -- 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680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20A4-8B6B-C1BD-18A2-C509C855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AF6673-A709-EB56-358F-D5B22D55F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318" y="3059810"/>
            <a:ext cx="11043364" cy="293131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DB0D76-7E62-3DFA-5491-05C4A780D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66" y="866873"/>
            <a:ext cx="7558392" cy="187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2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D94D-13BC-4B95-E4D4-BDAA8C2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C6848-62C1-6151-5B69-D41A7F3C1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80" y="856846"/>
            <a:ext cx="10169355" cy="490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44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3D38-F386-BADD-7EB5-31CFAD33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Difference between primary / foreign key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E140CF-2145-7537-25E9-B51BAB95B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193" y="4610911"/>
            <a:ext cx="6423265" cy="2161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670DF6-E6E1-B790-595D-F26078E9B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78" y="907981"/>
            <a:ext cx="11035844" cy="370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eys in DBMS. Keys in DBMS are introduced to avoid… | by Mhdwazeem | Medium">
            <a:extLst>
              <a:ext uri="{FF2B5EF4-FFF2-40B4-BE49-F238E27FC236}">
                <a16:creationId xmlns:a16="http://schemas.microsoft.com/office/drawing/2014/main" id="{1D513527-E82C-A05D-5895-252CC2C1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323" y="927263"/>
            <a:ext cx="9338554" cy="520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19F4D-8546-1A63-AC81-8BFCDB178DBF}"/>
              </a:ext>
            </a:extLst>
          </p:cNvPr>
          <p:cNvSpPr txBox="1"/>
          <p:nvPr/>
        </p:nvSpPr>
        <p:spPr>
          <a:xfrm>
            <a:off x="1138285" y="102851"/>
            <a:ext cx="7951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Difference between primary / foreign key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7167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103" y="217831"/>
            <a:ext cx="10515600" cy="93223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Primary Key:</a:t>
            </a:r>
            <a:br>
              <a:rPr lang="en-US" sz="4000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926" y="1038225"/>
            <a:ext cx="11670383" cy="58197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Primary Key is a field which uniquely identifies each row in the table.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2400" dirty="0"/>
              <a:t>        then the field will not be able to contain NULL values as well as all the rows should have unique values for this field.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a. CREATE TABLE </a:t>
            </a:r>
            <a:r>
              <a:rPr lang="en-US" sz="2400" b="1" dirty="0"/>
              <a:t>Student14</a:t>
            </a:r>
            <a:r>
              <a:rPr lang="en-US" sz="2400" dirty="0"/>
              <a:t>(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b="1" dirty="0" err="1"/>
              <a:t>studID</a:t>
            </a:r>
            <a:r>
              <a:rPr lang="en-US" sz="2400" dirty="0"/>
              <a:t>  int </a:t>
            </a:r>
            <a:r>
              <a:rPr lang="en-US" sz="2400" b="1" dirty="0"/>
              <a:t>primary key</a:t>
            </a:r>
            <a:r>
              <a:rPr lang="en-US" sz="2400" dirty="0"/>
              <a:t>,     </a:t>
            </a:r>
            <a:r>
              <a:rPr lang="en-US" sz="2400" b="1" dirty="0">
                <a:solidFill>
                  <a:srgbClr val="FF0000"/>
                </a:solidFill>
              </a:rPr>
              <a:t>-- Column Level 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studName</a:t>
            </a:r>
            <a:r>
              <a:rPr lang="en-US" sz="2400" dirty="0"/>
              <a:t> varchar(20) not null,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studAddress</a:t>
            </a:r>
            <a:r>
              <a:rPr lang="en-US" sz="2400" dirty="0"/>
              <a:t> varchar(20)  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b. CREATE TABLE </a:t>
            </a:r>
            <a:r>
              <a:rPr lang="en-US" sz="2400" b="1" dirty="0"/>
              <a:t>Student15</a:t>
            </a:r>
            <a:r>
              <a:rPr lang="en-US" sz="2400" dirty="0"/>
              <a:t>(</a:t>
            </a: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400" dirty="0" err="1"/>
              <a:t>studID</a:t>
            </a:r>
            <a:r>
              <a:rPr lang="en-US" sz="2400" dirty="0"/>
              <a:t>  int, 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studName</a:t>
            </a:r>
            <a:r>
              <a:rPr lang="en-US" sz="2400" dirty="0"/>
              <a:t> varchar(20) not null,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studAddress</a:t>
            </a:r>
            <a:r>
              <a:rPr lang="en-US" sz="2400" dirty="0"/>
              <a:t> varchar(20) ,</a:t>
            </a:r>
          </a:p>
          <a:p>
            <a:pPr marL="0" indent="0">
              <a:buNone/>
            </a:pPr>
            <a:r>
              <a:rPr lang="en-US" sz="2400" dirty="0"/>
              <a:t>              </a:t>
            </a:r>
            <a:r>
              <a:rPr lang="en-US" sz="2400" b="1" dirty="0"/>
              <a:t>primary key(</a:t>
            </a:r>
            <a:r>
              <a:rPr lang="en-US" sz="2400" dirty="0" err="1"/>
              <a:t>studID</a:t>
            </a:r>
            <a:r>
              <a:rPr lang="en-US" sz="2400" b="1" dirty="0"/>
              <a:t>));      </a:t>
            </a:r>
            <a:r>
              <a:rPr lang="en-US" b="1" dirty="0">
                <a:solidFill>
                  <a:srgbClr val="FF0000"/>
                </a:solidFill>
              </a:rPr>
              <a:t>-- Table Level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650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F020-F3CF-277D-87C1-7F9F4B12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Primary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C8539-E611-EC85-2C33-FA10CAAD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38" y="837352"/>
            <a:ext cx="11606012" cy="458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23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0688-3BFD-EFD2-CD8B-378EC05D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1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FOREIGN KEY Constraint (Student → Department)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9ABA-AE47-E5E8-E83B-A0E1769D0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358" y="1250590"/>
            <a:ext cx="10515600" cy="48391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--Parent table</a:t>
            </a: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b="1" dirty="0"/>
              <a:t>Department22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 err="1">
                <a:solidFill>
                  <a:srgbClr val="C00000"/>
                </a:solidFill>
              </a:rPr>
              <a:t>DeptID</a:t>
            </a:r>
            <a:r>
              <a:rPr lang="en-US" dirty="0"/>
              <a:t> INT </a:t>
            </a:r>
            <a:r>
              <a:rPr lang="en-US" dirty="0">
                <a:solidFill>
                  <a:srgbClr val="C00000"/>
                </a:solidFill>
              </a:rPr>
              <a:t>PRIMARY KEY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DeptName</a:t>
            </a:r>
            <a:r>
              <a:rPr lang="en-US" dirty="0"/>
              <a:t> VARCHAR(50));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--Child Table</a:t>
            </a: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b="1" dirty="0"/>
              <a:t>Student22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StudentID</a:t>
            </a:r>
            <a:r>
              <a:rPr lang="en-US" dirty="0"/>
              <a:t> INT </a:t>
            </a:r>
            <a:r>
              <a:rPr lang="en-US" b="1" dirty="0">
                <a:solidFill>
                  <a:srgbClr val="C00000"/>
                </a:solidFill>
              </a:rPr>
              <a:t>PRIMARY KEY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 err="1">
                <a:solidFill>
                  <a:srgbClr val="C00000"/>
                </a:solidFill>
              </a:rPr>
              <a:t>DeptID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FOREIGN KEY </a:t>
            </a:r>
            <a:r>
              <a:rPr lang="en-US" dirty="0"/>
              <a:t>(</a:t>
            </a:r>
            <a:r>
              <a:rPr lang="en-US" b="1" dirty="0" err="1">
                <a:solidFill>
                  <a:srgbClr val="C00000"/>
                </a:solidFill>
              </a:rPr>
              <a:t>DeptID</a:t>
            </a:r>
            <a:r>
              <a:rPr lang="en-US" b="1" dirty="0"/>
              <a:t>) REFERENCES Department22</a:t>
            </a:r>
            <a:r>
              <a:rPr lang="en-US" dirty="0"/>
              <a:t>(</a:t>
            </a:r>
            <a:r>
              <a:rPr lang="en-US" b="1" dirty="0" err="1">
                <a:solidFill>
                  <a:srgbClr val="C00000"/>
                </a:solidFill>
              </a:rPr>
              <a:t>DeptID</a:t>
            </a:r>
            <a:r>
              <a:rPr lang="en-US" dirty="0"/>
              <a:t>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404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4D39-7B3D-5B4E-74E1-04CA1E4A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FOREIGN KEY Constraint (Student → Department)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EA41-6690-6771-9B57-3CA11522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6199"/>
            <a:ext cx="114637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Insert valid department first(parent table)</a:t>
            </a:r>
          </a:p>
          <a:p>
            <a:pPr marL="0" indent="0">
              <a:buNone/>
            </a:pPr>
            <a:r>
              <a:rPr lang="en-IN" dirty="0"/>
              <a:t>INSERT INTO </a:t>
            </a:r>
            <a:r>
              <a:rPr lang="en-IN" b="1" dirty="0"/>
              <a:t>Department22</a:t>
            </a:r>
            <a:r>
              <a:rPr lang="en-IN" dirty="0"/>
              <a:t> VALUES (101, 'CSE');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Now insert student with matching </a:t>
            </a:r>
            <a:r>
              <a:rPr lang="en-IN" b="1" dirty="0" err="1"/>
              <a:t>DeptID</a:t>
            </a:r>
            <a:r>
              <a:rPr lang="en-IN" b="1" dirty="0"/>
              <a:t> (</a:t>
            </a:r>
            <a:r>
              <a:rPr lang="en-IN" b="1" dirty="0" err="1"/>
              <a:t>childtable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dirty="0"/>
              <a:t>INSERT INTO </a:t>
            </a:r>
            <a:r>
              <a:rPr lang="en-IN" b="1" dirty="0"/>
              <a:t>Student22</a:t>
            </a:r>
            <a:r>
              <a:rPr lang="en-IN" dirty="0"/>
              <a:t> VALUES (1, 'Meena', 101);    </a:t>
            </a:r>
            <a:r>
              <a:rPr lang="en-IN" dirty="0">
                <a:solidFill>
                  <a:srgbClr val="C00000"/>
                </a:solidFill>
              </a:rPr>
              <a:t>--  OK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-- Try with non-existing </a:t>
            </a:r>
            <a:r>
              <a:rPr lang="en-IN" dirty="0" err="1"/>
              <a:t>DeptID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INSERT INTO Student22 VALUES (2, 'Ram', </a:t>
            </a:r>
            <a:r>
              <a:rPr lang="en-IN" dirty="0">
                <a:solidFill>
                  <a:srgbClr val="C00000"/>
                </a:solidFill>
              </a:rPr>
              <a:t>999</a:t>
            </a:r>
            <a:r>
              <a:rPr lang="en-IN" dirty="0"/>
              <a:t>);      --  Error: </a:t>
            </a:r>
            <a:r>
              <a:rPr lang="en-IN" b="1" dirty="0"/>
              <a:t>No </a:t>
            </a:r>
            <a:r>
              <a:rPr lang="en-IN" b="1" dirty="0" err="1"/>
              <a:t>DeptID</a:t>
            </a:r>
            <a:r>
              <a:rPr lang="en-IN" b="1" dirty="0"/>
              <a:t> </a:t>
            </a:r>
            <a:r>
              <a:rPr lang="en-IN" dirty="0"/>
              <a:t>= </a:t>
            </a:r>
            <a:r>
              <a:rPr lang="en-IN" dirty="0">
                <a:solidFill>
                  <a:srgbClr val="C00000"/>
                </a:solidFill>
              </a:rPr>
              <a:t>999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50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FC97-1931-1D64-5980-704B3ED4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D54D-B743-D588-0D26-7901FC939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182D1-EF96-C620-D676-CB570D8C5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0" y="963038"/>
            <a:ext cx="1135519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0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633" y="509047"/>
            <a:ext cx="10171520" cy="6348953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Foreign Key is a field in a table which uniquely identifies each row of another table.</a:t>
            </a:r>
          </a:p>
          <a:p>
            <a:pPr marL="0" indent="0">
              <a:buNone/>
            </a:pPr>
            <a:r>
              <a:rPr lang="en-US" sz="1900" dirty="0"/>
              <a:t>. </a:t>
            </a:r>
            <a:r>
              <a:rPr lang="en-US" sz="1900" b="1" dirty="0"/>
              <a:t>Create Customers Table</a:t>
            </a:r>
          </a:p>
          <a:p>
            <a:pPr marL="0" indent="0">
              <a:buNone/>
            </a:pPr>
            <a:r>
              <a:rPr lang="en-US" sz="1900" dirty="0"/>
              <a:t>CREATE TABLE </a:t>
            </a:r>
            <a:r>
              <a:rPr lang="en-US" sz="1900" b="1" dirty="0"/>
              <a:t>Customers</a:t>
            </a:r>
            <a:r>
              <a:rPr lang="en-US" sz="1900" dirty="0"/>
              <a:t> (</a:t>
            </a:r>
          </a:p>
          <a:p>
            <a:pPr marL="0" indent="0">
              <a:buNone/>
            </a:pPr>
            <a:r>
              <a:rPr lang="en-US" sz="1900" dirty="0"/>
              <a:t>  C_ID INT </a:t>
            </a:r>
            <a:r>
              <a:rPr lang="en-US" sz="1900" b="1" dirty="0"/>
              <a:t>PRIMARY KEY</a:t>
            </a:r>
            <a:r>
              <a:rPr lang="en-US" sz="1900" dirty="0"/>
              <a:t>,                          -- </a:t>
            </a:r>
            <a:r>
              <a:rPr lang="en-US" sz="1900" b="1" dirty="0"/>
              <a:t>Unique</a:t>
            </a:r>
            <a:r>
              <a:rPr lang="en-US" sz="1900" dirty="0"/>
              <a:t> </a:t>
            </a:r>
            <a:r>
              <a:rPr lang="en-US" sz="1900" b="1" dirty="0"/>
              <a:t>customer ID</a:t>
            </a:r>
          </a:p>
          <a:p>
            <a:pPr marL="0" indent="0">
              <a:buNone/>
            </a:pPr>
            <a:r>
              <a:rPr lang="en-US" sz="1900" dirty="0"/>
              <a:t>  NAME VARCHAR(15) NOT NULL,            -- </a:t>
            </a:r>
            <a:r>
              <a:rPr lang="en-US" sz="1900" b="1" dirty="0"/>
              <a:t>Name</a:t>
            </a:r>
            <a:r>
              <a:rPr lang="en-US" sz="1900" dirty="0"/>
              <a:t> is required</a:t>
            </a:r>
          </a:p>
          <a:p>
            <a:pPr marL="0" indent="0">
              <a:buNone/>
            </a:pPr>
            <a:r>
              <a:rPr lang="en-US" sz="1900" dirty="0"/>
              <a:t>  ADDRESS VARCHAR(15) NOT NULL         -- </a:t>
            </a:r>
            <a:r>
              <a:rPr lang="en-US" sz="1900" b="1" dirty="0"/>
              <a:t>Address</a:t>
            </a:r>
            <a:r>
              <a:rPr lang="en-US" sz="1900" dirty="0"/>
              <a:t> is required</a:t>
            </a:r>
          </a:p>
          <a:p>
            <a:pPr marL="0" indent="0">
              <a:buNone/>
            </a:pPr>
            <a:r>
              <a:rPr lang="en-US" sz="1900" dirty="0"/>
              <a:t>);</a:t>
            </a:r>
          </a:p>
          <a:p>
            <a:pPr marL="0" indent="0">
              <a:buNone/>
            </a:pPr>
            <a:r>
              <a:rPr lang="en-US" sz="1900" b="1" dirty="0"/>
              <a:t>Create Orders Table</a:t>
            </a:r>
          </a:p>
          <a:p>
            <a:pPr marL="0" indent="0">
              <a:buNone/>
            </a:pPr>
            <a:r>
              <a:rPr lang="en-US" sz="1900" dirty="0"/>
              <a:t>CREATE TABLE </a:t>
            </a:r>
            <a:r>
              <a:rPr lang="en-US" sz="1900" b="1" dirty="0"/>
              <a:t>Orders</a:t>
            </a:r>
            <a:r>
              <a:rPr lang="en-US" sz="1900" dirty="0"/>
              <a:t> (</a:t>
            </a:r>
          </a:p>
          <a:p>
            <a:pPr marL="0" indent="0">
              <a:buNone/>
            </a:pPr>
            <a:r>
              <a:rPr lang="en-US" sz="1900" dirty="0"/>
              <a:t>  O_ID INT,                             		-- Order ID</a:t>
            </a:r>
          </a:p>
          <a:p>
            <a:pPr marL="0" indent="0">
              <a:buNone/>
            </a:pPr>
            <a:r>
              <a:rPr lang="en-US" sz="1900" dirty="0"/>
              <a:t>  ORDER_NO INT NOT NULL,                -- Order number is required</a:t>
            </a:r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b="1" dirty="0"/>
              <a:t> C_ID </a:t>
            </a:r>
            <a:r>
              <a:rPr lang="en-US" sz="1900" dirty="0"/>
              <a:t>INT,                         	                -- </a:t>
            </a:r>
            <a:r>
              <a:rPr lang="en-US" sz="1900" b="1" dirty="0"/>
              <a:t>Foreign key to Customers</a:t>
            </a:r>
          </a:p>
          <a:p>
            <a:pPr marL="0" indent="0">
              <a:buNone/>
            </a:pPr>
            <a:r>
              <a:rPr lang="en-US" sz="1900" dirty="0"/>
              <a:t>  </a:t>
            </a:r>
            <a:r>
              <a:rPr lang="en-US" sz="1900" b="1" dirty="0"/>
              <a:t>PRIMARY KEY (O_ID),                          -- Order ID must be unique</a:t>
            </a:r>
          </a:p>
          <a:p>
            <a:pPr marL="0" indent="0">
              <a:buNone/>
            </a:pPr>
            <a:r>
              <a:rPr lang="en-US" sz="1900" dirty="0"/>
              <a:t>  </a:t>
            </a:r>
            <a:r>
              <a:rPr lang="en-US" sz="1900" b="1" dirty="0"/>
              <a:t>FOREIGN KEY (C_ID) REFERENCES Customers(C</a:t>
            </a:r>
            <a:r>
              <a:rPr lang="en-US" sz="1900" dirty="0"/>
              <a:t>_ID)   -- </a:t>
            </a:r>
            <a:r>
              <a:rPr lang="en-US" sz="1900" b="1" dirty="0"/>
              <a:t>Customer must exist</a:t>
            </a:r>
          </a:p>
          <a:p>
            <a:pPr marL="0" indent="0">
              <a:buNone/>
            </a:pPr>
            <a:r>
              <a:rPr lang="en-US" sz="1900" dirty="0"/>
              <a:t>);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1D8CE-74D4-680D-6836-C52450F8196E}"/>
              </a:ext>
            </a:extLst>
          </p:cNvPr>
          <p:cNvSpPr txBox="1"/>
          <p:nvPr/>
        </p:nvSpPr>
        <p:spPr>
          <a:xfrm>
            <a:off x="1283616" y="0"/>
            <a:ext cx="6160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FOREIGN KEY: (Order </a:t>
            </a:r>
            <a:r>
              <a:rPr lang="en-US" sz="32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b="1" dirty="0" err="1">
                <a:solidFill>
                  <a:schemeClr val="bg1"/>
                </a:solidFill>
                <a:sym typeface="Wingdings" panose="05000000000000000000" pitchFamily="2" charset="2"/>
              </a:rPr>
              <a:t>Custormer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04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FBFC-BAD0-05CA-07F8-2FB7DFBF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066B1-D139-66D7-51E5-F59EE2FDC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1429698"/>
            <a:ext cx="10515600" cy="5187917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INSERT INTO Customers (C_ID, NAME, ADDRESS) VALUES </a:t>
            </a:r>
          </a:p>
          <a:p>
            <a:pPr marL="0" indent="0">
              <a:buNone/>
            </a:pPr>
            <a:r>
              <a:rPr lang="en-IN" dirty="0"/>
              <a:t>(1, 'Ravi', 'Chennai'),</a:t>
            </a:r>
          </a:p>
          <a:p>
            <a:pPr marL="0" indent="0">
              <a:buNone/>
            </a:pPr>
            <a:r>
              <a:rPr lang="en-IN" dirty="0"/>
              <a:t>(2, 'Divya', 'Madurai'),</a:t>
            </a:r>
          </a:p>
          <a:p>
            <a:pPr marL="0" indent="0">
              <a:buNone/>
            </a:pPr>
            <a:r>
              <a:rPr lang="en-IN" dirty="0"/>
              <a:t>(3, 'Arun', 'Salem');</a:t>
            </a:r>
          </a:p>
          <a:p>
            <a:endParaRPr lang="en-IN" dirty="0"/>
          </a:p>
          <a:p>
            <a:r>
              <a:rPr lang="en-IN" dirty="0"/>
              <a:t>Insert Data into Orders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INSERT INTO Orders (O_ID, ORDER_NO, C_ID)VALUES </a:t>
            </a:r>
          </a:p>
          <a:p>
            <a:pPr marL="0" indent="0">
              <a:buNone/>
            </a:pPr>
            <a:r>
              <a:rPr lang="en-IN" dirty="0"/>
              <a:t>  (101, 5001, 1),     -- </a:t>
            </a:r>
            <a:r>
              <a:rPr lang="en-IN" b="1" dirty="0"/>
              <a:t>Valid</a:t>
            </a:r>
            <a:r>
              <a:rPr lang="en-IN" dirty="0"/>
              <a:t>: C_ID 1 exists in Customers</a:t>
            </a:r>
          </a:p>
          <a:p>
            <a:pPr marL="0" indent="0">
              <a:buNone/>
            </a:pPr>
            <a:r>
              <a:rPr lang="en-IN" dirty="0"/>
              <a:t>  (102, 5002, 2),     -- </a:t>
            </a:r>
            <a:r>
              <a:rPr lang="en-IN" b="1" dirty="0"/>
              <a:t>Valid</a:t>
            </a:r>
            <a:r>
              <a:rPr lang="en-IN" dirty="0"/>
              <a:t>: C_ID 2 exists in Customers</a:t>
            </a:r>
          </a:p>
          <a:p>
            <a:pPr marL="0" indent="0">
              <a:buNone/>
            </a:pPr>
            <a:r>
              <a:rPr lang="en-IN" dirty="0"/>
              <a:t>  (103, 5003, 3);     -- </a:t>
            </a:r>
            <a:r>
              <a:rPr lang="en-IN" b="1" dirty="0"/>
              <a:t>Valid</a:t>
            </a:r>
            <a:r>
              <a:rPr lang="en-IN" dirty="0"/>
              <a:t>: C_ID 3 exists</a:t>
            </a:r>
          </a:p>
          <a:p>
            <a:pPr marL="0" indent="0">
              <a:buNone/>
            </a:pPr>
            <a:r>
              <a:rPr lang="en-IN" dirty="0"/>
              <a:t>  (104,5004,4);        -- </a:t>
            </a:r>
            <a:r>
              <a:rPr lang="en-IN" b="1" dirty="0"/>
              <a:t>Error</a:t>
            </a:r>
            <a:r>
              <a:rPr lang="en-IN" dirty="0"/>
              <a:t>: C_ID 4 does not exist in </a:t>
            </a:r>
            <a:r>
              <a:rPr lang="en-IN" b="1" dirty="0"/>
              <a:t>parent table</a:t>
            </a:r>
          </a:p>
        </p:txBody>
      </p:sp>
    </p:spTree>
    <p:extLst>
      <p:ext uri="{BB962C8B-B14F-4D97-AF65-F5344CB8AC3E}">
        <p14:creationId xmlns:p14="http://schemas.microsoft.com/office/powerpoint/2010/main" val="1984798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AA89-7492-5333-15A4-6A6EDADA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Combined Table with All Constraints: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BC6D-70A5-C4EB-1E85-A0C8350AD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413"/>
            <a:ext cx="10515600" cy="49415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CREATE TABLE Department 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DeptID</a:t>
            </a:r>
            <a:r>
              <a:rPr lang="en-IN" dirty="0"/>
              <a:t> INT PRIMARY KEY,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DeptName</a:t>
            </a:r>
            <a:r>
              <a:rPr lang="en-IN" dirty="0"/>
              <a:t> VARCHAR(50)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CREATE TABLE Student 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StudentID</a:t>
            </a:r>
            <a:r>
              <a:rPr lang="en-IN" dirty="0"/>
              <a:t> INT PRIMARY KEY,                  		</a:t>
            </a:r>
            <a:r>
              <a:rPr lang="en-IN" dirty="0">
                <a:solidFill>
                  <a:srgbClr val="FF0000"/>
                </a:solidFill>
              </a:rPr>
              <a:t>-- Unique ID</a:t>
            </a:r>
          </a:p>
          <a:p>
            <a:pPr marL="0" indent="0">
              <a:buNone/>
            </a:pPr>
            <a:r>
              <a:rPr lang="en-IN" dirty="0"/>
              <a:t>    Name VARCHAR(50) NOT NULL,              	</a:t>
            </a:r>
            <a:r>
              <a:rPr lang="en-IN" dirty="0">
                <a:solidFill>
                  <a:srgbClr val="FF0000"/>
                </a:solidFill>
              </a:rPr>
              <a:t>               -- Name required</a:t>
            </a:r>
          </a:p>
          <a:p>
            <a:pPr marL="0" indent="0">
              <a:buNone/>
            </a:pPr>
            <a:r>
              <a:rPr lang="en-IN" dirty="0"/>
              <a:t>    Email VARCHAR(100) UNIQUE,              	              </a:t>
            </a:r>
            <a:r>
              <a:rPr lang="en-IN" dirty="0">
                <a:solidFill>
                  <a:srgbClr val="FF0000"/>
                </a:solidFill>
              </a:rPr>
              <a:t>-- No duplicate emails</a:t>
            </a:r>
          </a:p>
          <a:p>
            <a:pPr marL="0" indent="0">
              <a:buNone/>
            </a:pPr>
            <a:r>
              <a:rPr lang="en-IN" dirty="0"/>
              <a:t>    Age INT CHECK (Age &gt;= 18),                 			 </a:t>
            </a:r>
            <a:r>
              <a:rPr lang="en-IN" dirty="0">
                <a:solidFill>
                  <a:srgbClr val="FF0000"/>
                </a:solidFill>
              </a:rPr>
              <a:t>-- Only 18+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DeptID</a:t>
            </a:r>
            <a:r>
              <a:rPr lang="en-IN" dirty="0"/>
              <a:t> INT,</a:t>
            </a:r>
          </a:p>
          <a:p>
            <a:pPr marL="0" indent="0">
              <a:buNone/>
            </a:pPr>
            <a:r>
              <a:rPr lang="en-IN" dirty="0"/>
              <a:t>    Status VARCHAR(20) DEFAULT 'Active',    		    </a:t>
            </a:r>
            <a:r>
              <a:rPr lang="en-IN" dirty="0">
                <a:solidFill>
                  <a:srgbClr val="FF0000"/>
                </a:solidFill>
              </a:rPr>
              <a:t>-- Default value</a:t>
            </a:r>
          </a:p>
          <a:p>
            <a:pPr marL="0" indent="0">
              <a:buNone/>
            </a:pPr>
            <a:r>
              <a:rPr lang="en-IN" dirty="0"/>
              <a:t>    FOREIGN KEY (</a:t>
            </a:r>
            <a:r>
              <a:rPr lang="en-IN" dirty="0" err="1"/>
              <a:t>DeptID</a:t>
            </a:r>
            <a:r>
              <a:rPr lang="en-IN" dirty="0"/>
              <a:t>) REFERENCES Department(</a:t>
            </a:r>
            <a:r>
              <a:rPr lang="en-IN" dirty="0" err="1"/>
              <a:t>DeptID</a:t>
            </a:r>
            <a:r>
              <a:rPr lang="en-IN" dirty="0"/>
              <a:t>));  </a:t>
            </a:r>
            <a:r>
              <a:rPr lang="en-IN" dirty="0">
                <a:solidFill>
                  <a:srgbClr val="FF0000"/>
                </a:solidFill>
              </a:rPr>
              <a:t>-- Link to Dept table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276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E059-BBBA-3618-9086-012E7FAC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Test Queries for Practice: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10AB1-FA84-149C-589C-510D7FC93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Create Department</a:t>
            </a:r>
          </a:p>
          <a:p>
            <a:pPr marL="0" indent="0">
              <a:buNone/>
            </a:pPr>
            <a:r>
              <a:rPr lang="en-IN" dirty="0"/>
              <a:t>INSERT INTO Department VALUES (1, 'CSE');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Insert Student</a:t>
            </a:r>
          </a:p>
          <a:p>
            <a:pPr marL="0" indent="0">
              <a:buNone/>
            </a:pPr>
            <a:r>
              <a:rPr lang="en-IN" dirty="0"/>
              <a:t>INSERT INTO Student (</a:t>
            </a:r>
            <a:r>
              <a:rPr lang="en-IN" dirty="0" err="1"/>
              <a:t>StudentID</a:t>
            </a:r>
            <a:r>
              <a:rPr lang="en-IN" dirty="0"/>
              <a:t>, Name, Email, Age, </a:t>
            </a:r>
            <a:r>
              <a:rPr lang="en-IN" dirty="0" err="1"/>
              <a:t>DeptID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/>
              <a:t>VALUES (101, 'Divya', 'divya@gmail.com', 19, 1);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-- </a:t>
            </a:r>
            <a:r>
              <a:rPr lang="en-IN" b="1" dirty="0"/>
              <a:t>Check default value</a:t>
            </a:r>
          </a:p>
          <a:p>
            <a:pPr marL="0" indent="0">
              <a:buNone/>
            </a:pPr>
            <a:r>
              <a:rPr lang="en-IN" dirty="0"/>
              <a:t>SELECT * FROM Student;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002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D6C6-DB6F-69EA-670B-12FCF224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206375"/>
            <a:ext cx="11161336" cy="1325563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Problem Statement # Two tables: Primary and 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77135-9B2E-9DB9-5F22-0B337D47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33772"/>
            <a:ext cx="11161336" cy="5329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Department</a:t>
            </a:r>
            <a:r>
              <a:rPr lang="en-US" sz="2400" dirty="0"/>
              <a:t> : Stores department details.</a:t>
            </a:r>
          </a:p>
          <a:p>
            <a:pPr marL="0" indent="0">
              <a:buNone/>
            </a:pPr>
            <a:r>
              <a:rPr lang="en-US" sz="2400" b="1" dirty="0"/>
              <a:t>Employee</a:t>
            </a:r>
            <a:r>
              <a:rPr lang="en-US" sz="2400" dirty="0"/>
              <a:t>    : Stores employee details and references the department they belong to.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1.Create Department Table (with Primary Key)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CREATE TABLE Department (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dept_id</a:t>
            </a:r>
            <a:r>
              <a:rPr lang="en-US" sz="2400" dirty="0"/>
              <a:t> INT PRIMARY KEY,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dept_name</a:t>
            </a:r>
            <a:r>
              <a:rPr lang="en-US" sz="2400" dirty="0"/>
              <a:t> VARCHAR(100)</a:t>
            </a:r>
          </a:p>
          <a:p>
            <a:pPr marL="0" indent="0">
              <a:buNone/>
            </a:pPr>
            <a:r>
              <a:rPr lang="en-US" sz="2400" dirty="0"/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note:</a:t>
            </a:r>
          </a:p>
          <a:p>
            <a:pPr marL="0" indent="0">
              <a:buNone/>
            </a:pPr>
            <a:r>
              <a:rPr lang="en-US" sz="2400" b="1" dirty="0" err="1"/>
              <a:t>dept_id</a:t>
            </a:r>
            <a:r>
              <a:rPr lang="en-US" sz="2400" b="1" dirty="0"/>
              <a:t> </a:t>
            </a:r>
            <a:r>
              <a:rPr lang="en-US" sz="2400" dirty="0"/>
              <a:t>is the primary key — uniquely identifies each department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9531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2786-D7F8-CD76-5CD3-50383B7E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79" y="977212"/>
            <a:ext cx="11228109" cy="52821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dirty="0"/>
              <a:t>2. </a:t>
            </a:r>
            <a:r>
              <a:rPr lang="en-US" sz="2900" b="1" dirty="0"/>
              <a:t>Create Employee Table (with Foreign Key)</a:t>
            </a:r>
          </a:p>
          <a:p>
            <a:endParaRPr lang="en-US" sz="2900" dirty="0"/>
          </a:p>
          <a:p>
            <a:pPr marL="0" indent="0">
              <a:buNone/>
            </a:pPr>
            <a:r>
              <a:rPr lang="en-US" sz="2900" dirty="0"/>
              <a:t>CREATE TABLE Employee (</a:t>
            </a:r>
          </a:p>
          <a:p>
            <a:pPr marL="0" indent="0">
              <a:buNone/>
            </a:pPr>
            <a:r>
              <a:rPr lang="en-US" sz="2900" dirty="0"/>
              <a:t>    </a:t>
            </a:r>
            <a:r>
              <a:rPr lang="en-US" sz="2900" dirty="0" err="1"/>
              <a:t>emp_id</a:t>
            </a:r>
            <a:r>
              <a:rPr lang="en-US" sz="2900" dirty="0"/>
              <a:t> INT PRIMARY KEY,</a:t>
            </a:r>
          </a:p>
          <a:p>
            <a:pPr marL="0" indent="0">
              <a:buNone/>
            </a:pPr>
            <a:r>
              <a:rPr lang="en-US" sz="2900" dirty="0"/>
              <a:t>    </a:t>
            </a:r>
            <a:r>
              <a:rPr lang="en-US" sz="2900" dirty="0" err="1"/>
              <a:t>emp_name</a:t>
            </a:r>
            <a:r>
              <a:rPr lang="en-US" sz="2900" dirty="0"/>
              <a:t> VARCHAR(20),</a:t>
            </a:r>
          </a:p>
          <a:p>
            <a:pPr marL="0" indent="0">
              <a:buNone/>
            </a:pPr>
            <a:r>
              <a:rPr lang="en-US" sz="2900" dirty="0"/>
              <a:t>    </a:t>
            </a:r>
            <a:r>
              <a:rPr lang="en-US" sz="2900" dirty="0" err="1"/>
              <a:t>dept_id</a:t>
            </a:r>
            <a:r>
              <a:rPr lang="en-US" sz="2900" dirty="0"/>
              <a:t> INT,</a:t>
            </a:r>
          </a:p>
          <a:p>
            <a:pPr marL="0" indent="0">
              <a:buNone/>
            </a:pPr>
            <a:r>
              <a:rPr lang="en-US" sz="2900" dirty="0"/>
              <a:t>    </a:t>
            </a:r>
            <a:r>
              <a:rPr lang="en-US" sz="2900" b="1" dirty="0"/>
              <a:t>FOREIGN KEY </a:t>
            </a:r>
            <a:r>
              <a:rPr lang="en-US" sz="2900" dirty="0"/>
              <a:t>(</a:t>
            </a:r>
            <a:r>
              <a:rPr lang="en-US" sz="2900" dirty="0" err="1"/>
              <a:t>dept_id</a:t>
            </a:r>
            <a:r>
              <a:rPr lang="en-US" sz="2900" dirty="0"/>
              <a:t>) </a:t>
            </a:r>
            <a:r>
              <a:rPr lang="en-US" sz="2900" b="1" dirty="0"/>
              <a:t>REFERENCES</a:t>
            </a:r>
            <a:r>
              <a:rPr lang="en-US" sz="2900" dirty="0"/>
              <a:t> </a:t>
            </a:r>
            <a:r>
              <a:rPr lang="en-US" sz="2900" b="1" dirty="0"/>
              <a:t>Department</a:t>
            </a:r>
            <a:r>
              <a:rPr lang="en-US" sz="2900" dirty="0"/>
              <a:t>(</a:t>
            </a:r>
            <a:r>
              <a:rPr lang="en-US" sz="2900" dirty="0" err="1"/>
              <a:t>dept_id</a:t>
            </a:r>
            <a:r>
              <a:rPr lang="en-US" sz="2900" dirty="0"/>
              <a:t>)</a:t>
            </a:r>
          </a:p>
          <a:p>
            <a:pPr marL="0" indent="0">
              <a:buNone/>
            </a:pPr>
            <a:r>
              <a:rPr lang="en-US" sz="2900" dirty="0"/>
              <a:t>);	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C00000"/>
                </a:solidFill>
              </a:rPr>
              <a:t>note:</a:t>
            </a:r>
            <a:endParaRPr lang="en-US" sz="2900" dirty="0"/>
          </a:p>
          <a:p>
            <a:pPr marL="0" indent="0">
              <a:buNone/>
            </a:pPr>
            <a:r>
              <a:rPr lang="en-US" sz="2400" dirty="0" err="1"/>
              <a:t>emp_id</a:t>
            </a:r>
            <a:r>
              <a:rPr lang="en-US" sz="2400" dirty="0"/>
              <a:t> is the primary key — uniquely identifies each employee.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dept_id</a:t>
            </a:r>
            <a:r>
              <a:rPr lang="en-US" sz="2400" dirty="0"/>
              <a:t> is a foreign key — refers to </a:t>
            </a:r>
            <a:r>
              <a:rPr lang="en-US" sz="2400" dirty="0" err="1"/>
              <a:t>Department.dept_id</a:t>
            </a:r>
            <a:r>
              <a:rPr lang="en-US" sz="2400" dirty="0"/>
              <a:t>, establishing a relationship.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738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FC89-2189-9FDB-819C-40CCA4E9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Data Insertion: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7A26-0A76-AB74-34B8-FFE83896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57" y="1119188"/>
            <a:ext cx="10515600" cy="5470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-- Insert into Department</a:t>
            </a:r>
          </a:p>
          <a:p>
            <a:pPr marL="0" indent="0">
              <a:buNone/>
            </a:pPr>
            <a:r>
              <a:rPr lang="en-IN" dirty="0"/>
              <a:t>INSERT INTO Department (</a:t>
            </a:r>
            <a:r>
              <a:rPr lang="en-IN" dirty="0" err="1"/>
              <a:t>dept_id</a:t>
            </a:r>
            <a:r>
              <a:rPr lang="en-IN" dirty="0"/>
              <a:t>, </a:t>
            </a:r>
            <a:r>
              <a:rPr lang="en-IN" dirty="0" err="1"/>
              <a:t>dept_name</a:t>
            </a:r>
            <a:r>
              <a:rPr lang="en-IN" dirty="0"/>
              <a:t>) VALUES</a:t>
            </a:r>
          </a:p>
          <a:p>
            <a:pPr marL="0" indent="0">
              <a:buNone/>
            </a:pPr>
            <a:r>
              <a:rPr lang="en-IN" dirty="0"/>
              <a:t>(1, 'HR'),</a:t>
            </a:r>
          </a:p>
          <a:p>
            <a:pPr marL="0" indent="0">
              <a:buNone/>
            </a:pPr>
            <a:r>
              <a:rPr lang="en-IN" dirty="0"/>
              <a:t>(2, 'Engineering'),</a:t>
            </a:r>
          </a:p>
          <a:p>
            <a:pPr marL="0" indent="0">
              <a:buNone/>
            </a:pPr>
            <a:r>
              <a:rPr lang="en-IN" dirty="0"/>
              <a:t>(3, 'Marketing');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-- Insert into Employee</a:t>
            </a:r>
          </a:p>
          <a:p>
            <a:pPr marL="0" indent="0">
              <a:buNone/>
            </a:pPr>
            <a:r>
              <a:rPr lang="en-IN" dirty="0"/>
              <a:t>INSERT INTO Employee (</a:t>
            </a:r>
            <a:r>
              <a:rPr lang="en-IN" dirty="0" err="1"/>
              <a:t>emp_id</a:t>
            </a:r>
            <a:r>
              <a:rPr lang="en-IN" dirty="0"/>
              <a:t>, </a:t>
            </a:r>
            <a:r>
              <a:rPr lang="en-IN" dirty="0" err="1"/>
              <a:t>emp_name</a:t>
            </a:r>
            <a:r>
              <a:rPr lang="en-IN" dirty="0"/>
              <a:t>, </a:t>
            </a:r>
            <a:r>
              <a:rPr lang="en-IN" dirty="0" err="1"/>
              <a:t>dept_id</a:t>
            </a:r>
            <a:r>
              <a:rPr lang="en-IN" dirty="0"/>
              <a:t>) VALUES</a:t>
            </a:r>
          </a:p>
          <a:p>
            <a:pPr marL="0" indent="0">
              <a:buNone/>
            </a:pPr>
            <a:r>
              <a:rPr lang="en-IN" dirty="0"/>
              <a:t>(101, 'Alice', 1),</a:t>
            </a:r>
          </a:p>
          <a:p>
            <a:pPr marL="0" indent="0">
              <a:buNone/>
            </a:pPr>
            <a:r>
              <a:rPr lang="en-IN" dirty="0"/>
              <a:t>(102, 'Bob', 2),</a:t>
            </a:r>
          </a:p>
          <a:p>
            <a:pPr marL="0" indent="0">
              <a:buNone/>
            </a:pPr>
            <a:r>
              <a:rPr lang="en-IN" dirty="0"/>
              <a:t>(103, 'Charlie', 2);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332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401E-EBE9-AD9D-47AD-5B2DFA17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F854-661F-F133-3B08-76B9238E9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53C3D8-482A-357A-2C15-228625ADB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904972"/>
            <a:ext cx="9183382" cy="595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69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D88497-3C25-103E-E195-CE04237EC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93" y="876693"/>
            <a:ext cx="8446416" cy="5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2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DA8B-F27E-0788-22CA-2A789C8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Error occur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E2034-140E-5D86-26BF-A64A485D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EC3B6-4D3A-0B99-5715-6822E935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0" y="1673980"/>
            <a:ext cx="11745798" cy="35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15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DC63-A322-41B2-DD58-D9C5D4AFF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206375"/>
            <a:ext cx="11460048" cy="1325563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Working properly : Parent and child relationship table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F1E78-5AD4-6702-3354-2CD7FDE0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6" y="886119"/>
            <a:ext cx="8371654" cy="587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17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9CAA-7267-6434-2069-8C84A20F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0CCF-99C0-B894-9573-67AEBA1B0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5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BA24-3F34-D02C-132E-3BB01F34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What is a </a:t>
            </a:r>
            <a:r>
              <a:rPr lang="en-IN" dirty="0" err="1">
                <a:solidFill>
                  <a:schemeClr val="bg1"/>
                </a:solidFill>
              </a:rPr>
              <a:t>SubQuery</a:t>
            </a:r>
            <a:r>
              <a:rPr lang="en-IN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0B06-B061-A9E0-E802-760058BA1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70" y="943583"/>
            <a:ext cx="12159575" cy="61186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is a </a:t>
            </a:r>
            <a:r>
              <a:rPr lang="en-US" b="1" dirty="0"/>
              <a:t>query inside another query</a:t>
            </a:r>
            <a:r>
              <a:rPr lang="en-US" dirty="0"/>
              <a:t>. It is also called a </a:t>
            </a:r>
            <a:r>
              <a:rPr lang="en-US" b="1" dirty="0"/>
              <a:t>nested query</a:t>
            </a:r>
            <a:r>
              <a:rPr lang="en-US" dirty="0"/>
              <a:t> or </a:t>
            </a:r>
            <a:r>
              <a:rPr lang="en-US" b="1" dirty="0"/>
              <a:t>inner query</a:t>
            </a:r>
            <a:r>
              <a:rPr lang="en-US" dirty="0"/>
              <a:t>. The </a:t>
            </a:r>
            <a:r>
              <a:rPr lang="en-US" b="1" dirty="0"/>
              <a:t>main query</a:t>
            </a:r>
            <a:r>
              <a:rPr lang="en-US" dirty="0"/>
              <a:t> (outer query) uses the </a:t>
            </a:r>
            <a:r>
              <a:rPr lang="en-US" b="1" dirty="0"/>
              <a:t>result</a:t>
            </a:r>
            <a:r>
              <a:rPr lang="en-US" dirty="0"/>
              <a:t> of the subquery.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Subqueries</a:t>
            </a:r>
            <a:r>
              <a:rPr lang="en-US" dirty="0"/>
              <a:t> are usually written inside:</a:t>
            </a:r>
          </a:p>
          <a:p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SELECT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FROM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WHERE clauses.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b="1" dirty="0"/>
              <a:t>Basic Syntax</a:t>
            </a:r>
          </a:p>
          <a:p>
            <a:pPr marL="0" indent="0">
              <a:buNone/>
            </a:pPr>
            <a:r>
              <a:rPr lang="en-US" b="1" i="1" dirty="0"/>
              <a:t>SELECT</a:t>
            </a:r>
            <a:r>
              <a:rPr lang="en-US" dirty="0"/>
              <a:t> </a:t>
            </a:r>
            <a:r>
              <a:rPr lang="en-US" dirty="0" err="1"/>
              <a:t>column_name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FROM</a:t>
            </a:r>
            <a:r>
              <a:rPr lang="en-US" dirty="0"/>
              <a:t> </a:t>
            </a:r>
            <a:r>
              <a:rPr lang="en-US" dirty="0" err="1"/>
              <a:t>table_name</a:t>
            </a:r>
            <a:endParaRPr lang="en-US" sz="2400" dirty="0"/>
          </a:p>
          <a:p>
            <a:pPr marL="0" indent="0">
              <a:buNone/>
            </a:pPr>
            <a:r>
              <a:rPr lang="en-US" sz="2400" b="1" i="1" dirty="0"/>
              <a:t>WHERE</a:t>
            </a:r>
            <a:r>
              <a:rPr lang="en-US" sz="2400" dirty="0"/>
              <a:t> </a:t>
            </a:r>
            <a:r>
              <a:rPr lang="en-US" sz="2400" dirty="0" err="1"/>
              <a:t>column_name</a:t>
            </a:r>
            <a:r>
              <a:rPr lang="en-US" sz="2400" dirty="0"/>
              <a:t> operator (</a:t>
            </a:r>
            <a:r>
              <a:rPr lang="en-US" sz="2400" dirty="0">
                <a:solidFill>
                  <a:srgbClr val="FF0000"/>
                </a:solidFill>
              </a:rPr>
              <a:t>SELECT </a:t>
            </a:r>
            <a:r>
              <a:rPr lang="en-US" sz="2400" dirty="0" err="1">
                <a:solidFill>
                  <a:srgbClr val="FF0000"/>
                </a:solidFill>
              </a:rPr>
              <a:t>column_name</a:t>
            </a:r>
            <a:r>
              <a:rPr lang="en-US" sz="2400" dirty="0">
                <a:solidFill>
                  <a:srgbClr val="FF0000"/>
                </a:solidFill>
              </a:rPr>
              <a:t> FROM </a:t>
            </a:r>
            <a:r>
              <a:rPr lang="en-US" sz="2400" dirty="0" err="1">
                <a:solidFill>
                  <a:srgbClr val="FF0000"/>
                </a:solidFill>
              </a:rPr>
              <a:t>another_table</a:t>
            </a:r>
            <a:r>
              <a:rPr lang="en-US" sz="2400" dirty="0">
                <a:solidFill>
                  <a:srgbClr val="FF0000"/>
                </a:solidFill>
              </a:rPr>
              <a:t> WHERE condition</a:t>
            </a:r>
            <a:r>
              <a:rPr lang="en-US" sz="2400" dirty="0"/>
              <a:t>);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692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25F3-1C43-6C20-DF04-FA493544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Why use a </a:t>
            </a:r>
            <a:r>
              <a:rPr lang="en-IN" dirty="0" err="1">
                <a:solidFill>
                  <a:schemeClr val="bg1"/>
                </a:solidFill>
              </a:rPr>
              <a:t>SubQuery</a:t>
            </a:r>
            <a:r>
              <a:rPr lang="en-IN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F63D0-7151-6F53-6DA6-376C4E1F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To perform step-by-step </a:t>
            </a:r>
            <a:r>
              <a:rPr lang="en-US" b="1" dirty="0"/>
              <a:t>filtering</a:t>
            </a:r>
            <a:r>
              <a:rPr lang="en-US" dirty="0"/>
              <a:t> of data.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To break down complex logic into smaller parts.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To compare results of one query with another.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407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69E4-FC20-19A5-3B43-66BB141C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Single Row </a:t>
            </a:r>
            <a:r>
              <a:rPr lang="en-US" sz="3600" dirty="0" err="1">
                <a:solidFill>
                  <a:schemeClr val="bg1"/>
                </a:solidFill>
              </a:rPr>
              <a:t>SubQuery</a:t>
            </a:r>
            <a:r>
              <a:rPr lang="en-US" sz="3600" dirty="0">
                <a:solidFill>
                  <a:schemeClr val="bg1"/>
                </a:solidFill>
              </a:rPr>
              <a:t> – returns one value.</a:t>
            </a:r>
            <a:endParaRPr lang="en-IN" sz="3600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AE4E32-FB03-EF6A-87C1-E6B636B1E0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062784"/>
              </p:ext>
            </p:extLst>
          </p:nvPr>
        </p:nvGraphicFramePr>
        <p:xfrm>
          <a:off x="1081392" y="1734749"/>
          <a:ext cx="10515600" cy="20421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067161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02355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2817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student_id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773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6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Rahul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97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820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Seema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64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162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143E-36FD-F716-87D8-3EC7925A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SubQuery</a:t>
            </a:r>
            <a:r>
              <a:rPr lang="en-US" sz="3600" dirty="0">
                <a:solidFill>
                  <a:schemeClr val="bg1"/>
                </a:solidFill>
              </a:rPr>
              <a:t> in WHERE Clause (Single Row)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AE54-384C-8B6B-E5B6-DC382A97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7" y="1342417"/>
            <a:ext cx="10760413" cy="51459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Problem:</a:t>
            </a:r>
            <a:r>
              <a:rPr lang="en-US" dirty="0"/>
              <a:t> Get students who scored </a:t>
            </a:r>
            <a:r>
              <a:rPr lang="en-US" b="1" dirty="0"/>
              <a:t>more than average marks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name, marks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marks &gt; (</a:t>
            </a:r>
            <a:r>
              <a:rPr lang="en-US" b="1" dirty="0"/>
              <a:t>SELECT AVG(marks) FROM Students</a:t>
            </a:r>
            <a:r>
              <a:rPr lang="en-US" dirty="0"/>
              <a:t>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 err="1"/>
              <a:t>SubQuery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SELECT AVG(marks) FROM Students;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AVG(marks) </a:t>
            </a:r>
          </a:p>
          <a:p>
            <a:pPr marL="0" indent="0">
              <a:buNone/>
            </a:pPr>
            <a:r>
              <a:rPr lang="en-US" dirty="0"/>
              <a:t> ---------- </a:t>
            </a:r>
          </a:p>
          <a:p>
            <a:pPr marL="0" indent="0">
              <a:buNone/>
            </a:pPr>
            <a:r>
              <a:rPr lang="en-US" dirty="0"/>
              <a:t> 86.75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621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54D8-A68E-5C9F-1B01-DE1D7588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97AD60-1EF6-3D8E-6C2C-3D054EE17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285394"/>
              </p:ext>
            </p:extLst>
          </p:nvPr>
        </p:nvGraphicFramePr>
        <p:xfrm>
          <a:off x="711740" y="1954595"/>
          <a:ext cx="10515600" cy="11887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817594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8199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7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Rahul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57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Seema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88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47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E009-C506-0F18-66DC-D0CB4750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95" y="-35229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600" dirty="0" err="1">
                <a:solidFill>
                  <a:schemeClr val="bg1"/>
                </a:solidFill>
              </a:rPr>
              <a:t>SubQuery</a:t>
            </a:r>
            <a:r>
              <a:rPr lang="en-US" sz="3600" dirty="0">
                <a:solidFill>
                  <a:schemeClr val="bg1"/>
                </a:solidFill>
              </a:rPr>
              <a:t> with IN (Multiple Row </a:t>
            </a:r>
            <a:r>
              <a:rPr lang="en-US" sz="3600" dirty="0" err="1">
                <a:solidFill>
                  <a:schemeClr val="bg1"/>
                </a:solidFill>
              </a:rPr>
              <a:t>SubQuery</a:t>
            </a:r>
            <a:r>
              <a:rPr lang="en-US" sz="3600" dirty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817C-0C68-E64D-F950-056C281B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77" y="1825625"/>
            <a:ext cx="12013659" cy="4351338"/>
          </a:xfrm>
        </p:spPr>
        <p:txBody>
          <a:bodyPr/>
          <a:lstStyle/>
          <a:p>
            <a:r>
              <a:rPr lang="en-US" dirty="0"/>
              <a:t>Problem: Get students in top 2 marks.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name, marks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marks IN (</a:t>
            </a:r>
            <a:r>
              <a:rPr lang="en-US" dirty="0">
                <a:solidFill>
                  <a:srgbClr val="FF0000"/>
                </a:solidFill>
              </a:rPr>
              <a:t>SELECT marks FROM Students ORDER BY marks DESC LIMIT 2</a:t>
            </a: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754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7939-4ECE-AEAB-A51F-9BE8A48C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66DA-4468-4251-F025-429350D75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ORDER BY ... DESC LIMIT 2 mean?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ORDER BY </a:t>
            </a:r>
            <a:r>
              <a:rPr lang="en-US" dirty="0"/>
              <a:t>→ Sorts the result.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DESC</a:t>
            </a:r>
            <a:r>
              <a:rPr lang="en-US" dirty="0"/>
              <a:t> → Sorts in descending order (</a:t>
            </a:r>
            <a:r>
              <a:rPr lang="en-US" b="1" dirty="0"/>
              <a:t>highest to lowest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LIMIT 2 </a:t>
            </a:r>
            <a:r>
              <a:rPr lang="en-US" dirty="0"/>
              <a:t>→ Shows only the top 2 results from the sorted list.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972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8A7F-DCE7-8D16-F0F3-B82B6FBC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A283-8158-1F30-26FD-DACFF2400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404"/>
            <a:ext cx="10515600" cy="583659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Step-by-step:</a:t>
            </a:r>
          </a:p>
          <a:p>
            <a:endParaRPr lang="en-US" dirty="0"/>
          </a:p>
          <a:p>
            <a:r>
              <a:rPr lang="en-US" b="1" dirty="0"/>
              <a:t>ORDER BY </a:t>
            </a:r>
            <a:r>
              <a:rPr lang="en-US" dirty="0"/>
              <a:t>marks </a:t>
            </a:r>
            <a:r>
              <a:rPr lang="en-US" b="1" dirty="0"/>
              <a:t>DESC </a:t>
            </a:r>
            <a:r>
              <a:rPr lang="en-US" dirty="0"/>
              <a:t>→ Sorts by marks from highest to lowest: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92 (Seema)</a:t>
            </a:r>
          </a:p>
          <a:p>
            <a:pPr marL="0" indent="0">
              <a:buNone/>
            </a:pPr>
            <a:r>
              <a:rPr lang="en-US" dirty="0"/>
              <a:t>90 (Rahul)</a:t>
            </a:r>
          </a:p>
          <a:p>
            <a:pPr marL="0" indent="0">
              <a:buNone/>
            </a:pPr>
            <a:r>
              <a:rPr lang="en-US" dirty="0"/>
              <a:t>85 (Priya)</a:t>
            </a:r>
          </a:p>
          <a:p>
            <a:pPr marL="0" indent="0">
              <a:buNone/>
            </a:pPr>
            <a:r>
              <a:rPr lang="en-US" dirty="0"/>
              <a:t>80 (Ram)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LIMIT 2 </a:t>
            </a:r>
            <a:r>
              <a:rPr lang="en-US" dirty="0"/>
              <a:t>→ Takes only the </a:t>
            </a:r>
            <a:r>
              <a:rPr lang="en-US" b="1" dirty="0"/>
              <a:t>first 2 rows after sorting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90</a:t>
            </a:r>
          </a:p>
          <a:p>
            <a:pPr marL="0" indent="0">
              <a:buNone/>
            </a:pPr>
            <a:r>
              <a:rPr lang="en-US" dirty="0"/>
              <a:t>92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00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7B81-9007-2D6E-F3D3-2E0521CC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6EEF6E-5F27-0060-7031-A06216724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280030"/>
              </p:ext>
            </p:extLst>
          </p:nvPr>
        </p:nvGraphicFramePr>
        <p:xfrm>
          <a:off x="838200" y="1496098"/>
          <a:ext cx="10650166" cy="1584960"/>
        </p:xfrm>
        <a:graphic>
          <a:graphicData uri="http://schemas.openxmlformats.org/drawingml/2006/table">
            <a:tbl>
              <a:tblPr/>
              <a:tblGrid>
                <a:gridCol w="5325083">
                  <a:extLst>
                    <a:ext uri="{9D8B030D-6E8A-4147-A177-3AD203B41FA5}">
                      <a16:colId xmlns:a16="http://schemas.microsoft.com/office/drawing/2014/main" val="7519097"/>
                    </a:ext>
                  </a:extLst>
                </a:gridCol>
                <a:gridCol w="5325083">
                  <a:extLst>
                    <a:ext uri="{9D8B030D-6E8A-4147-A177-3AD203B41FA5}">
                      <a16:colId xmlns:a16="http://schemas.microsoft.com/office/drawing/2014/main" val="1090417234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47902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IN"/>
                        <a:t>Rahul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73849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IN"/>
                        <a:t>Seema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24992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25A53E-BDA2-3207-0396-31ECE060E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98632"/>
              </p:ext>
            </p:extLst>
          </p:nvPr>
        </p:nvGraphicFramePr>
        <p:xfrm>
          <a:off x="838200" y="3945648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678633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860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Clause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6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ORDER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Sorts the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011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DESC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High to low (descending)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58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LIMIT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Show top 2 rows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3203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E52C-B611-CEFA-E322-C714BAE99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463" y="1253331"/>
            <a:ext cx="1120464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Find average marks of students who scored more than 85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AVG(marks) AS </a:t>
            </a:r>
            <a:r>
              <a:rPr lang="en-US" b="1" dirty="0" err="1"/>
              <a:t>avg_high_scorers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FROM (SELECT marks FROM Students WHERE marks &gt; 85)  ;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521466-C043-7B2A-7286-2475EAF44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27174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2C2AB-B3F2-6F2A-8CD6-5D8B2978C172}"/>
              </a:ext>
            </a:extLst>
          </p:cNvPr>
          <p:cNvSpPr txBox="1"/>
          <p:nvPr/>
        </p:nvSpPr>
        <p:spPr>
          <a:xfrm>
            <a:off x="614463" y="102463"/>
            <a:ext cx="6152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 err="1">
                <a:solidFill>
                  <a:schemeClr val="bg1"/>
                </a:solidFill>
              </a:rPr>
              <a:t>SubQuery</a:t>
            </a:r>
            <a:r>
              <a:rPr lang="en-IN" sz="4000" dirty="0">
                <a:solidFill>
                  <a:schemeClr val="bg1"/>
                </a:solidFill>
              </a:rPr>
              <a:t> in FROM Clause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3C6C1-4C92-800C-5DAE-F6CCB0D32BB0}"/>
              </a:ext>
            </a:extLst>
          </p:cNvPr>
          <p:cNvSpPr txBox="1"/>
          <p:nvPr/>
        </p:nvSpPr>
        <p:spPr>
          <a:xfrm>
            <a:off x="761189" y="3785494"/>
            <a:ext cx="88011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</a:t>
            </a:r>
            <a:r>
              <a:rPr lang="en-IN" sz="2800" b="1" dirty="0"/>
              <a:t>Inner </a:t>
            </a:r>
            <a:r>
              <a:rPr lang="en-IN" sz="2800" b="1" dirty="0" err="1"/>
              <a:t>SubQuery</a:t>
            </a:r>
            <a:r>
              <a:rPr lang="en-IN" sz="2800" b="1" dirty="0"/>
              <a:t>:</a:t>
            </a:r>
            <a:endParaRPr lang="en-IN" sz="3600" b="1" dirty="0"/>
          </a:p>
          <a:p>
            <a:r>
              <a:rPr lang="en-IN" sz="2800" dirty="0"/>
              <a:t>SELECT </a:t>
            </a:r>
            <a:r>
              <a:rPr lang="en-IN" sz="2800" b="1" dirty="0"/>
              <a:t>marks</a:t>
            </a:r>
            <a:r>
              <a:rPr lang="en-IN" sz="2800" dirty="0"/>
              <a:t> FROM Students WHERE marks &gt; 85;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</a:t>
            </a:r>
            <a:r>
              <a:rPr lang="en-IN" sz="2000" b="1" dirty="0"/>
              <a:t>marks</a:t>
            </a:r>
            <a:r>
              <a:rPr lang="en-IN" sz="2000" dirty="0"/>
              <a:t> </a:t>
            </a:r>
          </a:p>
          <a:p>
            <a:r>
              <a:rPr lang="en-IN" sz="2000" dirty="0"/>
              <a:t> ----- </a:t>
            </a:r>
          </a:p>
          <a:p>
            <a:r>
              <a:rPr lang="en-IN" sz="2000" dirty="0"/>
              <a:t>90    </a:t>
            </a:r>
          </a:p>
          <a:p>
            <a:r>
              <a:rPr lang="en-IN" sz="2000" dirty="0"/>
              <a:t> 92    </a:t>
            </a:r>
          </a:p>
        </p:txBody>
      </p:sp>
    </p:spTree>
    <p:extLst>
      <p:ext uri="{BB962C8B-B14F-4D97-AF65-F5344CB8AC3E}">
        <p14:creationId xmlns:p14="http://schemas.microsoft.com/office/powerpoint/2010/main" val="4179890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9DE7-F078-1C69-CC82-4AC4C588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1D0937-E9C4-0933-814D-23DE30BFC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216843"/>
              </p:ext>
            </p:extLst>
          </p:nvPr>
        </p:nvGraphicFramePr>
        <p:xfrm>
          <a:off x="419911" y="2156930"/>
          <a:ext cx="10515600" cy="9144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34114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 err="1"/>
                        <a:t>avg_high_scorers</a:t>
                      </a:r>
                      <a:endParaRPr lang="en-IN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03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91.00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25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28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B3A3-B437-9828-B63E-80D3B116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Find the Employee with the Second Highest Salary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1A55B-BC37-40CB-A951-2F09B69E5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253331"/>
            <a:ext cx="10515600" cy="4351338"/>
          </a:xfrm>
        </p:spPr>
        <p:txBody>
          <a:bodyPr/>
          <a:lstStyle/>
          <a:p>
            <a:r>
              <a:rPr lang="en-US" b="1" dirty="0"/>
              <a:t>Problem Statement:</a:t>
            </a:r>
          </a:p>
          <a:p>
            <a:r>
              <a:rPr lang="en-US" dirty="0"/>
              <a:t>Write a query to display the </a:t>
            </a:r>
            <a:r>
              <a:rPr lang="en-US" b="1" dirty="0"/>
              <a:t>second highest salary</a:t>
            </a:r>
            <a:r>
              <a:rPr lang="en-US" dirty="0"/>
              <a:t> from the Employee table using a </a:t>
            </a:r>
            <a:r>
              <a:rPr lang="en-US" b="1" dirty="0"/>
              <a:t>nested subquery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IN" dirty="0"/>
              <a:t>Employee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66D208-753B-2BDF-5BE8-72641D99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929397"/>
              </p:ext>
            </p:extLst>
          </p:nvPr>
        </p:nvGraphicFramePr>
        <p:xfrm>
          <a:off x="942975" y="3775869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361740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948590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5042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218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01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2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1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20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715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0957-F9BA-27DB-974A-97762772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39F975-1C61-DEF9-DF81-713C78961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855508"/>
              </p:ext>
            </p:extLst>
          </p:nvPr>
        </p:nvGraphicFramePr>
        <p:xfrm>
          <a:off x="1466850" y="5892959"/>
          <a:ext cx="10515600" cy="731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102173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5411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66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8990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5ED970D-9D76-26CC-FB0C-5A7F61A2A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239804"/>
            <a:ext cx="2487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97787-2018-1810-486A-F77042D177B5}"/>
              </a:ext>
            </a:extLst>
          </p:cNvPr>
          <p:cNvSpPr txBox="1"/>
          <p:nvPr/>
        </p:nvSpPr>
        <p:spPr>
          <a:xfrm>
            <a:off x="877436" y="1390650"/>
            <a:ext cx="94286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 </a:t>
            </a:r>
            <a:r>
              <a:rPr lang="en-IN" sz="2400" dirty="0" err="1">
                <a:solidFill>
                  <a:srgbClr val="FF0000"/>
                </a:solidFill>
              </a:rPr>
              <a:t>EmpName</a:t>
            </a:r>
            <a:r>
              <a:rPr lang="en-IN" sz="2400" dirty="0">
                <a:solidFill>
                  <a:srgbClr val="FF0000"/>
                </a:solidFill>
              </a:rPr>
              <a:t>, Salary </a:t>
            </a:r>
          </a:p>
          <a:p>
            <a:r>
              <a:rPr lang="en-IN" sz="2400" dirty="0"/>
              <a:t>FROM Employee </a:t>
            </a:r>
          </a:p>
          <a:p>
            <a:r>
              <a:rPr lang="en-IN" sz="2400" dirty="0"/>
              <a:t>WHERE Salary = (</a:t>
            </a:r>
          </a:p>
          <a:p>
            <a:r>
              <a:rPr lang="en-IN" sz="2400" dirty="0"/>
              <a:t>    SELECT </a:t>
            </a:r>
            <a:r>
              <a:rPr lang="en-IN" sz="2400" b="1" dirty="0">
                <a:solidFill>
                  <a:srgbClr val="FF0000"/>
                </a:solidFill>
              </a:rPr>
              <a:t>MAX</a:t>
            </a:r>
            <a:r>
              <a:rPr lang="en-IN" sz="2400" dirty="0"/>
              <a:t>(Salary) </a:t>
            </a:r>
          </a:p>
          <a:p>
            <a:r>
              <a:rPr lang="en-IN" sz="2400" dirty="0"/>
              <a:t>    FROM Employee </a:t>
            </a:r>
          </a:p>
          <a:p>
            <a:r>
              <a:rPr lang="en-IN" sz="2400" dirty="0"/>
              <a:t>    WHERE Salary &lt; (</a:t>
            </a:r>
          </a:p>
          <a:p>
            <a:r>
              <a:rPr lang="en-IN" sz="2400" dirty="0"/>
              <a:t>        SELECT </a:t>
            </a:r>
            <a:r>
              <a:rPr lang="en-IN" sz="2400" b="1" dirty="0">
                <a:solidFill>
                  <a:srgbClr val="FF0000"/>
                </a:solidFill>
              </a:rPr>
              <a:t>MAX</a:t>
            </a:r>
            <a:r>
              <a:rPr lang="en-IN" sz="2400" dirty="0"/>
              <a:t>(Salary) FROM Employee</a:t>
            </a:r>
          </a:p>
          <a:p>
            <a:r>
              <a:rPr lang="en-IN" sz="2400" dirty="0"/>
              <a:t>    )</a:t>
            </a:r>
          </a:p>
          <a:p>
            <a:r>
              <a:rPr lang="en-IN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43233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B881-32BD-BF11-EB0A-E8CF7387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515849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Find Students Who Scored Above the Class Average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31B5-63D7-5E9D-FEA5-9D9FAE09A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5850"/>
          </a:xfrm>
        </p:spPr>
        <p:txBody>
          <a:bodyPr/>
          <a:lstStyle/>
          <a:p>
            <a:r>
              <a:rPr lang="en-US" b="1" dirty="0"/>
              <a:t>Problem Statement:</a:t>
            </a:r>
          </a:p>
          <a:p>
            <a:r>
              <a:rPr lang="en-US" dirty="0"/>
              <a:t>Find the names of students whose marks are </a:t>
            </a:r>
            <a:r>
              <a:rPr lang="en-US" b="1" dirty="0"/>
              <a:t>above the overall class average</a:t>
            </a:r>
            <a:r>
              <a:rPr lang="en-US" dirty="0"/>
              <a:t> using </a:t>
            </a:r>
            <a:r>
              <a:rPr lang="en-US" dirty="0">
                <a:solidFill>
                  <a:srgbClr val="FF0000"/>
                </a:solidFill>
              </a:rPr>
              <a:t>nested</a:t>
            </a:r>
            <a:r>
              <a:rPr lang="en-US" dirty="0"/>
              <a:t> subqueries.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2EB91A-CE6E-55F4-C0E8-9AEBB214B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048852"/>
              </p:ext>
            </p:extLst>
          </p:nvPr>
        </p:nvGraphicFramePr>
        <p:xfrm>
          <a:off x="1104900" y="4181475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213388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05249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9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92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416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40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337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5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0153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B37D-34A7-13EB-B612-57F542AC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1FEFA-C7C9-1ACD-0319-F14861937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1191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Name, Marks </a:t>
            </a:r>
          </a:p>
          <a:p>
            <a:pPr marL="0" indent="0">
              <a:buNone/>
            </a:pPr>
            <a:r>
              <a:rPr lang="en-US" dirty="0"/>
              <a:t>FROM Student </a:t>
            </a:r>
          </a:p>
          <a:p>
            <a:pPr marL="0" indent="0">
              <a:buNone/>
            </a:pPr>
            <a:r>
              <a:rPr lang="en-US" dirty="0"/>
              <a:t>WHERE Marks &gt;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b="1" dirty="0">
                <a:solidFill>
                  <a:srgbClr val="FF0000"/>
                </a:solidFill>
              </a:rPr>
              <a:t>AVG</a:t>
            </a:r>
            <a:r>
              <a:rPr lang="en-US" dirty="0"/>
              <a:t>(Marks) </a:t>
            </a:r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>
                <a:solidFill>
                  <a:srgbClr val="FF0000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SELECT Marks FROM Student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) A</a:t>
            </a:r>
            <a:r>
              <a:rPr lang="en-US" dirty="0"/>
              <a:t>S </a:t>
            </a:r>
            <a:r>
              <a:rPr lang="en-US" dirty="0" err="1"/>
              <a:t>SubQuery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B0C386-0AAF-0EF6-8027-6E5D11ED3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604006"/>
              </p:ext>
            </p:extLst>
          </p:nvPr>
        </p:nvGraphicFramePr>
        <p:xfrm>
          <a:off x="2333625" y="549100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414994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97904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28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217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2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179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3F3B-BD14-89C4-0879-D051992A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78" y="299463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Student Table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F01A6A-59E4-7E48-43BD-0234AFD7F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141818"/>
              </p:ext>
            </p:extLst>
          </p:nvPr>
        </p:nvGraphicFramePr>
        <p:xfrm>
          <a:off x="838200" y="1274165"/>
          <a:ext cx="10515600" cy="2286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256407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01980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269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5117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 err="1"/>
                        <a:t>dept_id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470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04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61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46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796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54BFE5-24C2-8ECE-BD83-16623AD87519}"/>
              </a:ext>
            </a:extLst>
          </p:cNvPr>
          <p:cNvSpPr txBox="1"/>
          <p:nvPr/>
        </p:nvSpPr>
        <p:spPr>
          <a:xfrm>
            <a:off x="295478" y="3905813"/>
            <a:ext cx="6152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Departments Table</a:t>
            </a: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5CC28E-1FAD-DA13-7286-BA898E93E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523172"/>
              </p:ext>
            </p:extLst>
          </p:nvPr>
        </p:nvGraphicFramePr>
        <p:xfrm>
          <a:off x="838200" y="4806595"/>
          <a:ext cx="10515600" cy="1554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784089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26947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dept_id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/>
                        <a:t>dept_name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885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77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2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57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719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EAF7-EC6F-2806-A3D9-B406C021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Simple 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3C46-9DBA-AD6D-E784-5C02D36F9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328"/>
            <a:ext cx="10515600" cy="4776180"/>
          </a:xfrm>
        </p:spPr>
        <p:txBody>
          <a:bodyPr>
            <a:normAutofit/>
          </a:bodyPr>
          <a:lstStyle/>
          <a:p>
            <a:r>
              <a:rPr lang="en-US" b="1" dirty="0"/>
              <a:t>Find students who belong to the "IT" department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SELECT name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dept_id</a:t>
            </a:r>
            <a:r>
              <a:rPr lang="en-US" dirty="0"/>
              <a:t> =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SELECT </a:t>
            </a:r>
            <a:r>
              <a:rPr lang="en-US" b="1" dirty="0" err="1"/>
              <a:t>dept_id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FROM departments</a:t>
            </a:r>
          </a:p>
          <a:p>
            <a:pPr marL="0" indent="0">
              <a:buNone/>
            </a:pPr>
            <a:r>
              <a:rPr lang="en-US" b="1" dirty="0"/>
              <a:t>    WHERE </a:t>
            </a:r>
            <a:r>
              <a:rPr lang="en-US" b="1" dirty="0" err="1"/>
              <a:t>dept_name</a:t>
            </a:r>
            <a:r>
              <a:rPr lang="en-US" b="1" dirty="0"/>
              <a:t> = 'IT'</a:t>
            </a:r>
            <a:r>
              <a:rPr lang="en-US" dirty="0"/>
              <a:t>);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9492B9-7681-C391-E87F-769718D76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05993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550520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2412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061C25-D6CB-0248-0BF8-2050DE1B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309475"/>
              </p:ext>
            </p:extLst>
          </p:nvPr>
        </p:nvGraphicFramePr>
        <p:xfrm>
          <a:off x="585280" y="5476672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45401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89529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638489-A154-7942-2805-EBCA62D42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85544"/>
              </p:ext>
            </p:extLst>
          </p:nvPr>
        </p:nvGraphicFramePr>
        <p:xfrm>
          <a:off x="2287622" y="6492240"/>
          <a:ext cx="10515600" cy="3962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20711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Priya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5718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FED37B-AE86-7D50-8248-0917B1421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30937"/>
              </p:ext>
            </p:extLst>
          </p:nvPr>
        </p:nvGraphicFramePr>
        <p:xfrm>
          <a:off x="2287622" y="6132166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8868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51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532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1FF0-B697-54B3-8AF6-CE076366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Subquery with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C20B9-B669-A58F-8D94-9075CF52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students who scored more than the average marks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name, marks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marks &gt; (</a:t>
            </a:r>
          </a:p>
          <a:p>
            <a:pPr marL="0" indent="0">
              <a:buNone/>
            </a:pPr>
            <a:r>
              <a:rPr lang="en-US" dirty="0"/>
              <a:t>    SELECT AVG(marks)</a:t>
            </a:r>
          </a:p>
          <a:p>
            <a:pPr marL="0" indent="0">
              <a:buNone/>
            </a:pPr>
            <a:r>
              <a:rPr lang="en-US" dirty="0"/>
              <a:t>    FROM students);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85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8030-58BD-7AE7-61DD-05799754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1EE4BD-BA88-F5EF-DDB4-9E703110A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388713"/>
              </p:ext>
            </p:extLst>
          </p:nvPr>
        </p:nvGraphicFramePr>
        <p:xfrm>
          <a:off x="721468" y="2046035"/>
          <a:ext cx="10515600" cy="1981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94324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99721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748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928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93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357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429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704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6DEF-9BC0-4686-3F2C-38F2EBC3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Subquery with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4F60-482C-0628-39A7-5B9EB762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6300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Used when the subquery returns </a:t>
            </a:r>
            <a:r>
              <a:rPr lang="en-US" b="1" dirty="0"/>
              <a:t>multiple values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Find students who belong to either </a:t>
            </a:r>
            <a:r>
              <a:rPr lang="en-US" b="1" dirty="0"/>
              <a:t>CSE</a:t>
            </a:r>
            <a:r>
              <a:rPr lang="en-US" dirty="0"/>
              <a:t> or </a:t>
            </a:r>
            <a:r>
              <a:rPr lang="en-US" b="1" dirty="0"/>
              <a:t>IT</a:t>
            </a:r>
            <a:r>
              <a:rPr lang="en-US" dirty="0"/>
              <a:t> department.</a:t>
            </a:r>
          </a:p>
          <a:p>
            <a:pPr marL="0" indent="0">
              <a:buNone/>
            </a:pPr>
            <a:r>
              <a:rPr lang="en-US" dirty="0"/>
              <a:t>SELECT name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dept_id</a:t>
            </a:r>
            <a:r>
              <a:rPr lang="en-US" dirty="0"/>
              <a:t> IN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departments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dept_name</a:t>
            </a:r>
            <a:r>
              <a:rPr lang="en-US" dirty="0"/>
              <a:t> IN ('CSE', 'IT')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84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C63E-AE76-CED0-BB25-29CAA2D9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2CEB7C-DBBD-7C03-D59C-8EFBE0BDF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671860"/>
              </p:ext>
            </p:extLst>
          </p:nvPr>
        </p:nvGraphicFramePr>
        <p:xfrm>
          <a:off x="993842" y="2347592"/>
          <a:ext cx="10515600" cy="1859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5892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name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07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4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03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33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8632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FC88D7E-E119-72E1-D3A4-367F8459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42" y="-7393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7778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18DA-BA1B-5A1A-BE63-D3FD826F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Subquery with NOT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B899-0885-4AB1-09F7-9D5A3BC6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name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dept_id</a:t>
            </a:r>
            <a:r>
              <a:rPr lang="en-US" dirty="0"/>
              <a:t> NOT IN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departments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dept_name</a:t>
            </a:r>
            <a:r>
              <a:rPr lang="en-US" dirty="0"/>
              <a:t> = 'IT'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114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3033-5B82-537A-1F14-1A6B226A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C07417-742C-743C-6373-71B13324F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576083"/>
              </p:ext>
            </p:extLst>
          </p:nvPr>
        </p:nvGraphicFramePr>
        <p:xfrm>
          <a:off x="1091119" y="2082999"/>
          <a:ext cx="10515600" cy="14935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91867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43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96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12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28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1571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C5B3-D242-F958-0B4B-BCF409F0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1463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 Statement: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3814-A0F3-C6BF-7123-A83CB6C76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database for a </a:t>
            </a:r>
            <a:r>
              <a:rPr lang="en-US" b="1" dirty="0"/>
              <a:t>Company</a:t>
            </a:r>
            <a:r>
              <a:rPr lang="en-US" dirty="0"/>
              <a:t> that stores details of </a:t>
            </a:r>
            <a:r>
              <a:rPr lang="en-US" b="1" dirty="0"/>
              <a:t>Departments</a:t>
            </a:r>
            <a:r>
              <a:rPr lang="en-US" dirty="0"/>
              <a:t> and </a:t>
            </a:r>
            <a:r>
              <a:rPr lang="en-US" b="1" dirty="0"/>
              <a:t>Employees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employee must belong to a department. Apply constraints like NOT NULL, CHECK, UNIQUE, PRIMARY KEY, and FOREIGN KEY.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070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AC3E-ABEE-249A-C592-A1DAB239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Table 1: Department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6DA2919-61BD-583A-0F74-B658C5C1DD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222990"/>
              </p:ext>
            </p:extLst>
          </p:nvPr>
        </p:nvGraphicFramePr>
        <p:xfrm>
          <a:off x="692285" y="1857317"/>
          <a:ext cx="10515600" cy="2011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095691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237614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623777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8845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60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ID for each 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45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NULL, UNIQUE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 name (must be unique)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573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Location of 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754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162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94EA-203B-5ABD-11E3-9B1D27F4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Table 2: Employee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E776C6-D09F-B85B-1F2E-BF0BA7F7D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145711"/>
              </p:ext>
            </p:extLst>
          </p:nvPr>
        </p:nvGraphicFramePr>
        <p:xfrm>
          <a:off x="408562" y="1605065"/>
          <a:ext cx="10583693" cy="4361218"/>
        </p:xfrm>
        <a:graphic>
          <a:graphicData uri="http://schemas.openxmlformats.org/drawingml/2006/table">
            <a:tbl>
              <a:tblPr/>
              <a:tblGrid>
                <a:gridCol w="2550557">
                  <a:extLst>
                    <a:ext uri="{9D8B030D-6E8A-4147-A177-3AD203B41FA5}">
                      <a16:colId xmlns:a16="http://schemas.microsoft.com/office/drawing/2014/main" val="2462592758"/>
                    </a:ext>
                  </a:extLst>
                </a:gridCol>
                <a:gridCol w="2677712">
                  <a:extLst>
                    <a:ext uri="{9D8B030D-6E8A-4147-A177-3AD203B41FA5}">
                      <a16:colId xmlns:a16="http://schemas.microsoft.com/office/drawing/2014/main" val="56839200"/>
                    </a:ext>
                  </a:extLst>
                </a:gridCol>
                <a:gridCol w="2677712">
                  <a:extLst>
                    <a:ext uri="{9D8B030D-6E8A-4147-A177-3AD203B41FA5}">
                      <a16:colId xmlns:a16="http://schemas.microsoft.com/office/drawing/2014/main" val="3600849677"/>
                    </a:ext>
                  </a:extLst>
                </a:gridCol>
                <a:gridCol w="2677712">
                  <a:extLst>
                    <a:ext uri="{9D8B030D-6E8A-4147-A177-3AD203B41FA5}">
                      <a16:colId xmlns:a16="http://schemas.microsoft.com/office/drawing/2014/main" val="1425652049"/>
                    </a:ext>
                  </a:extLst>
                </a:gridCol>
              </a:tblGrid>
              <a:tr h="436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Column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341953"/>
                  </a:ext>
                </a:extLst>
              </a:tr>
              <a:tr h="763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ID for each 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704370"/>
                  </a:ext>
                </a:extLst>
              </a:tr>
              <a:tr h="43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45438"/>
                  </a:ext>
                </a:extLst>
              </a:tr>
              <a:tr h="43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(age &gt;= 18)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Minimum age must be 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816201"/>
                  </a:ext>
                </a:extLst>
              </a:tr>
              <a:tr h="763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two employees share same 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386998"/>
                  </a:ext>
                </a:extLst>
              </a:tr>
              <a:tr h="43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DECIMAL(10,2)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(salary &gt; 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 must be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37578"/>
                  </a:ext>
                </a:extLst>
              </a:tr>
              <a:tr h="109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FOREIGN KEY REFERENCES Department(dept_id)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belongs to 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08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7457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C2D6-8F72-81E6-C0D8-AA1463A4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130A8-7F3B-B4CD-9766-2B86F65C6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6" y="15737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CREATE TABLE Department (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dept_id</a:t>
            </a:r>
            <a:r>
              <a:rPr lang="en-US" sz="2400" dirty="0"/>
              <a:t> INT PRIMARY KEY,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dept_name</a:t>
            </a:r>
            <a:r>
              <a:rPr lang="en-US" sz="2400" dirty="0"/>
              <a:t> VARCHAR(50) NOT NULL UNIQUE,</a:t>
            </a:r>
          </a:p>
          <a:p>
            <a:pPr marL="0" indent="0">
              <a:buNone/>
            </a:pPr>
            <a:r>
              <a:rPr lang="en-US" sz="2400" dirty="0"/>
              <a:t>  location VARCHAR(50) NOT NULL</a:t>
            </a:r>
          </a:p>
          <a:p>
            <a:pPr marL="0" indent="0">
              <a:buNone/>
            </a:pPr>
            <a:r>
              <a:rPr lang="en-US" sz="2400" dirty="0"/>
              <a:t>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E257A-10CE-595F-CF6C-1DA5EEA39D8A}"/>
              </a:ext>
            </a:extLst>
          </p:cNvPr>
          <p:cNvSpPr txBox="1"/>
          <p:nvPr/>
        </p:nvSpPr>
        <p:spPr>
          <a:xfrm>
            <a:off x="69715" y="1109967"/>
            <a:ext cx="6152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Create Department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08972-4E19-D071-9633-359319DA5ACE}"/>
              </a:ext>
            </a:extLst>
          </p:cNvPr>
          <p:cNvSpPr txBox="1"/>
          <p:nvPr/>
        </p:nvSpPr>
        <p:spPr>
          <a:xfrm>
            <a:off x="5823626" y="3842861"/>
            <a:ext cx="615274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CREATE TABLE Employee (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emp_id</a:t>
            </a:r>
            <a:r>
              <a:rPr lang="en-IN" sz="2000" dirty="0"/>
              <a:t> INT PRIMARY KEY,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emp_name</a:t>
            </a:r>
            <a:r>
              <a:rPr lang="en-IN" sz="2000" dirty="0"/>
              <a:t> VARCHAR(50) NOT NULL,</a:t>
            </a:r>
          </a:p>
          <a:p>
            <a:r>
              <a:rPr lang="en-IN" sz="2000" dirty="0"/>
              <a:t>  age INT CHECK (age &gt;= 18),</a:t>
            </a:r>
          </a:p>
          <a:p>
            <a:r>
              <a:rPr lang="en-IN" sz="2000" dirty="0"/>
              <a:t>  email VARCHAR(100) UNIQUE,</a:t>
            </a:r>
          </a:p>
          <a:p>
            <a:r>
              <a:rPr lang="en-IN" sz="2000" dirty="0"/>
              <a:t>  salary DECIMAL(10,2) CHECK (salary &gt; 0),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dept_id</a:t>
            </a:r>
            <a:r>
              <a:rPr lang="en-IN" sz="2000" dirty="0"/>
              <a:t> INT,</a:t>
            </a:r>
          </a:p>
          <a:p>
            <a:r>
              <a:rPr lang="en-IN" sz="2000" dirty="0"/>
              <a:t>  FOREIGN KEY (</a:t>
            </a:r>
            <a:r>
              <a:rPr lang="en-IN" sz="2000" dirty="0" err="1"/>
              <a:t>dept_id</a:t>
            </a:r>
            <a:r>
              <a:rPr lang="en-IN" sz="2000" dirty="0"/>
              <a:t>) REFERENCES Department(</a:t>
            </a:r>
            <a:r>
              <a:rPr lang="en-IN" sz="2000" dirty="0" err="1"/>
              <a:t>dept_id</a:t>
            </a:r>
            <a:r>
              <a:rPr lang="en-IN" sz="2000" dirty="0"/>
              <a:t>)</a:t>
            </a:r>
          </a:p>
          <a:p>
            <a:r>
              <a:rPr lang="en-IN" sz="2000" dirty="0"/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6AB02-DCD4-5474-2DDD-407A9037E6AC}"/>
              </a:ext>
            </a:extLst>
          </p:cNvPr>
          <p:cNvSpPr txBox="1"/>
          <p:nvPr/>
        </p:nvSpPr>
        <p:spPr>
          <a:xfrm>
            <a:off x="6039256" y="3380125"/>
            <a:ext cx="6152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rgbClr val="FF0000"/>
                </a:solidFill>
              </a:rPr>
              <a:t>Create Employee Table</a:t>
            </a:r>
          </a:p>
        </p:txBody>
      </p:sp>
    </p:spTree>
    <p:extLst>
      <p:ext uri="{BB962C8B-B14F-4D97-AF65-F5344CB8AC3E}">
        <p14:creationId xmlns:p14="http://schemas.microsoft.com/office/powerpoint/2010/main" val="3601464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DF2C-6B27-9CC2-9842-FA89246D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Sample Input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C344-5C41-FD25-DBF0-EADF04BFC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67"/>
            <a:ext cx="12295761" cy="4468171"/>
          </a:xfrm>
        </p:spPr>
        <p:txBody>
          <a:bodyPr/>
          <a:lstStyle/>
          <a:p>
            <a:r>
              <a:rPr lang="en-IN" dirty="0"/>
              <a:t>INSERT INTO Department VALUES (1, 'HR', 'Chennai');</a:t>
            </a:r>
          </a:p>
          <a:p>
            <a:r>
              <a:rPr lang="en-IN" dirty="0"/>
              <a:t>INSERT INTO Department VALUES (2, 'IT', 'Bangalore');</a:t>
            </a:r>
          </a:p>
          <a:p>
            <a:endParaRPr lang="en-IN" dirty="0"/>
          </a:p>
          <a:p>
            <a:r>
              <a:rPr lang="en-IN" dirty="0"/>
              <a:t>INSERT INTO Employee VALUES (101, 'Arun', 25, 'arun@gmail.com', 35000, 1);</a:t>
            </a:r>
          </a:p>
          <a:p>
            <a:r>
              <a:rPr lang="en-IN" dirty="0"/>
              <a:t>INSERT INTO Employee VALUES (102, 'Meena', 29, 'meena@gmail.com', 50000, 2);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EC25C5-FAC0-AAF2-7596-207A1DA57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89002"/>
              </p:ext>
            </p:extLst>
          </p:nvPr>
        </p:nvGraphicFramePr>
        <p:xfrm>
          <a:off x="145915" y="4832036"/>
          <a:ext cx="11731552" cy="1645920"/>
        </p:xfrm>
        <a:graphic>
          <a:graphicData uri="http://schemas.openxmlformats.org/drawingml/2006/table">
            <a:tbl>
              <a:tblPr/>
              <a:tblGrid>
                <a:gridCol w="1466444">
                  <a:extLst>
                    <a:ext uri="{9D8B030D-6E8A-4147-A177-3AD203B41FA5}">
                      <a16:colId xmlns:a16="http://schemas.microsoft.com/office/drawing/2014/main" val="3795054854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1553504873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2072563494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2076095035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3750319231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270613180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2180464883"/>
                    </a:ext>
                  </a:extLst>
                </a:gridCol>
                <a:gridCol w="1466444">
                  <a:extLst>
                    <a:ext uri="{9D8B030D-6E8A-4147-A177-3AD203B41FA5}">
                      <a16:colId xmlns:a16="http://schemas.microsoft.com/office/drawing/2014/main" val="690708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165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2"/>
                        </a:rPr>
                        <a:t>arun@gmail.com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35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3"/>
                        </a:rPr>
                        <a:t>meena@gmail.com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Bangalore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73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5148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A801-4021-77A1-FDF5-7E0BFDA5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79216-185E-2655-8A01-E5ABA291A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46" y="1358697"/>
            <a:ext cx="1258597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Sample Input 2 (Check Constraint Violation)</a:t>
            </a:r>
          </a:p>
          <a:p>
            <a:r>
              <a:rPr lang="en-US" dirty="0"/>
              <a:t>INSERT INTO Employee VALUES (103, 'Kumar', 16, 'kumar@gmail.com', 20000, 1);</a:t>
            </a:r>
          </a:p>
          <a:p>
            <a:r>
              <a:rPr lang="en-US" b="1" dirty="0"/>
              <a:t> Expected Output 2</a:t>
            </a:r>
          </a:p>
          <a:p>
            <a:r>
              <a:rPr lang="en-US" dirty="0"/>
              <a:t>ERROR: CHECK constraint failed: age &gt;= 18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A6450-A556-457C-2107-FC684ACEC071}"/>
              </a:ext>
            </a:extLst>
          </p:cNvPr>
          <p:cNvSpPr txBox="1"/>
          <p:nvPr/>
        </p:nvSpPr>
        <p:spPr>
          <a:xfrm>
            <a:off x="285750" y="4198123"/>
            <a:ext cx="122349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Sample Input 3 (Unique Constraint Violation)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INSERT INTO Employee VALUES (104, 'Anitha', 24, 'arun@gmail.com', 40000, 2);</a:t>
            </a:r>
          </a:p>
          <a:p>
            <a:pPr>
              <a:buNone/>
            </a:pPr>
            <a:r>
              <a:rPr lang="en-IN" sz="2000" b="1" dirty="0"/>
              <a:t>Expected Output 3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ERROR: UNIQUE constraint failed: email</a:t>
            </a:r>
          </a:p>
        </p:txBody>
      </p:sp>
    </p:spTree>
    <p:extLst>
      <p:ext uri="{BB962C8B-B14F-4D97-AF65-F5344CB8AC3E}">
        <p14:creationId xmlns:p14="http://schemas.microsoft.com/office/powerpoint/2010/main" val="29163403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A35F-4756-E871-4444-C7CDAE0B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965C-DC48-A5C9-C049-B9860B77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73" y="1494885"/>
            <a:ext cx="1149809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Sample Input 4 (Foreign Key Violation)</a:t>
            </a:r>
          </a:p>
          <a:p>
            <a:r>
              <a:rPr lang="en-US" dirty="0"/>
              <a:t>INSERT INTO Employee VALUES (105, 'Ravi', 28, 'ravi@gmail.com', 42000, 5);</a:t>
            </a:r>
          </a:p>
          <a:p>
            <a:endParaRPr lang="en-US" dirty="0"/>
          </a:p>
          <a:p>
            <a:r>
              <a:rPr lang="en-US" b="1" dirty="0"/>
              <a:t>Expected Output 4</a:t>
            </a:r>
          </a:p>
          <a:p>
            <a:r>
              <a:rPr lang="en-US" dirty="0"/>
              <a:t>ERROR: FOREIGN KEY constraint failed: </a:t>
            </a:r>
            <a:r>
              <a:rPr lang="en-US" dirty="0" err="1"/>
              <a:t>dept_id</a:t>
            </a:r>
            <a:r>
              <a:rPr lang="en-US" dirty="0"/>
              <a:t> does not exist in Department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988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04A8-C2DC-CD3C-7F81-CCD5D034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19B58-173C-5068-B5D7-D798D303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56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EB5E-C61E-20A7-8D9B-CED98640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08" y="18255"/>
            <a:ext cx="12088037" cy="132556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Problem 1 — Find students who belong to “IT” department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649B-EEB0-8D38-32AB-5EB667099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77" y="1253331"/>
            <a:ext cx="1147681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Write an SQL query using a </a:t>
            </a:r>
            <a:r>
              <a:rPr lang="en-US" b="1" dirty="0"/>
              <a:t>subquery</a:t>
            </a:r>
            <a:r>
              <a:rPr lang="en-US" dirty="0"/>
              <a:t> to find all students who belong to the </a:t>
            </a:r>
            <a:r>
              <a:rPr lang="en-US" b="1" dirty="0"/>
              <a:t>IT department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BE86C5-A99E-73B2-1927-99DE3AAB1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50267"/>
              </p:ext>
            </p:extLst>
          </p:nvPr>
        </p:nvGraphicFramePr>
        <p:xfrm>
          <a:off x="478277" y="3234754"/>
          <a:ext cx="10515600" cy="2225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7206836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84672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117892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4795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/>
                        <a:t>dept_id</a:t>
                      </a:r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9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23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87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79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5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3480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6DB38E-1241-633D-82A9-5EA21DDB7ACA}"/>
              </a:ext>
            </a:extLst>
          </p:cNvPr>
          <p:cNvSpPr txBox="1"/>
          <p:nvPr/>
        </p:nvSpPr>
        <p:spPr>
          <a:xfrm>
            <a:off x="761190" y="2622976"/>
            <a:ext cx="6191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students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7498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8F46-7129-D227-FEC9-6D5048F7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C63CB-703F-1BF6-5E4A-205CA37F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Departments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F677B3-F0B4-1FF5-55C4-7D29384BE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250811"/>
              </p:ext>
            </p:extLst>
          </p:nvPr>
        </p:nvGraphicFramePr>
        <p:xfrm>
          <a:off x="1003570" y="2880668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363651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8818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dept_id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dept_name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1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16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710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9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9518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DFDA-780A-0DAB-C3EB-4BC513E3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BC93-C7A6-CE49-CDBD-7900F402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name</a:t>
            </a:r>
          </a:p>
          <a:p>
            <a:pPr marL="0" indent="0">
              <a:buNone/>
            </a:pPr>
            <a:r>
              <a:rPr lang="en-US" dirty="0"/>
              <a:t>FROM students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dept_id</a:t>
            </a:r>
            <a:r>
              <a:rPr lang="en-US" dirty="0"/>
              <a:t> =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departments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dept_name</a:t>
            </a:r>
            <a:r>
              <a:rPr lang="en-US" dirty="0"/>
              <a:t> = 'IT'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14564E-C423-8198-1154-FC06A2F43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65503"/>
              </p:ext>
            </p:extLst>
          </p:nvPr>
        </p:nvGraphicFramePr>
        <p:xfrm>
          <a:off x="2248710" y="5409425"/>
          <a:ext cx="762318" cy="365760"/>
        </p:xfrm>
        <a:graphic>
          <a:graphicData uri="http://schemas.openxmlformats.org/drawingml/2006/table">
            <a:tbl>
              <a:tblPr/>
              <a:tblGrid>
                <a:gridCol w="762318">
                  <a:extLst>
                    <a:ext uri="{9D8B030D-6E8A-4147-A177-3AD203B41FA5}">
                      <a16:colId xmlns:a16="http://schemas.microsoft.com/office/drawing/2014/main" val="57447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4586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B56738-AC4C-160B-3A26-3FED28825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38203"/>
              </p:ext>
            </p:extLst>
          </p:nvPr>
        </p:nvGraphicFramePr>
        <p:xfrm>
          <a:off x="2248710" y="576059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88935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212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367194-520A-2929-E841-3CAA3EEF1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698168"/>
              </p:ext>
            </p:extLst>
          </p:nvPr>
        </p:nvGraphicFramePr>
        <p:xfrm>
          <a:off x="2112523" y="5994083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79269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6173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2ADA9F-D496-1745-7265-FB2F12BF8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09295"/>
              </p:ext>
            </p:extLst>
          </p:nvPr>
        </p:nvGraphicFramePr>
        <p:xfrm>
          <a:off x="3386846" y="5577714"/>
          <a:ext cx="10515600" cy="1127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83302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210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29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31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4663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7D7A-29F9-7C9F-326F-D4BD419B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Problem 2 — Find students with marks greater than average marks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1DF6-5268-4AEB-D029-E97D7FADE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43" y="1825625"/>
            <a:ext cx="1119815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r>
              <a:rPr lang="en-US" dirty="0"/>
              <a:t>Write a subquery to find students who scored </a:t>
            </a:r>
            <a:r>
              <a:rPr lang="en-US" b="1" dirty="0"/>
              <a:t>above the class average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41A806-F1E2-DC1A-0196-B7D90B551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69627"/>
              </p:ext>
            </p:extLst>
          </p:nvPr>
        </p:nvGraphicFramePr>
        <p:xfrm>
          <a:off x="682557" y="38184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950082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49585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02539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377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06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188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117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3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646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7956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3A40-1651-09DF-6FB3-65EAD4EC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SQL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0FBE6-1F35-9628-2DAF-D9DC552958B2}"/>
              </a:ext>
            </a:extLst>
          </p:cNvPr>
          <p:cNvSpPr txBox="1"/>
          <p:nvPr/>
        </p:nvSpPr>
        <p:spPr>
          <a:xfrm>
            <a:off x="1811775" y="1674674"/>
            <a:ext cx="7487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 name, marks</a:t>
            </a:r>
          </a:p>
          <a:p>
            <a:r>
              <a:rPr lang="en-IN" sz="2400" dirty="0"/>
              <a:t>FROM students</a:t>
            </a:r>
          </a:p>
          <a:p>
            <a:r>
              <a:rPr lang="en-IN" sz="2400" dirty="0"/>
              <a:t>WHERE marks &gt; (</a:t>
            </a:r>
          </a:p>
          <a:p>
            <a:r>
              <a:rPr lang="en-IN" sz="2400" dirty="0"/>
              <a:t>    SELECT AVG(marks)</a:t>
            </a:r>
          </a:p>
          <a:p>
            <a:r>
              <a:rPr lang="en-IN" sz="2400" dirty="0"/>
              <a:t>    FROM students</a:t>
            </a:r>
          </a:p>
          <a:p>
            <a:r>
              <a:rPr lang="en-IN" sz="2400" dirty="0"/>
              <a:t>);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14F6BB-80EE-879D-DF81-5CE2A992A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49349"/>
              </p:ext>
            </p:extLst>
          </p:nvPr>
        </p:nvGraphicFramePr>
        <p:xfrm>
          <a:off x="1344038" y="4538484"/>
          <a:ext cx="10515600" cy="1859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031215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02437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68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10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526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3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5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5589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768D-F2B7-DB54-03DA-A44D90123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bg1"/>
                </a:solidFill>
              </a:rPr>
              <a:t>Problem 3 — Find the top scorer in each department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7B688-D69C-F093-8247-C8C24A4CD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a subquery to find the </a:t>
            </a:r>
            <a:r>
              <a:rPr lang="en-US" b="1" dirty="0"/>
              <a:t>highest marks</a:t>
            </a:r>
            <a:r>
              <a:rPr lang="en-US" dirty="0"/>
              <a:t> in each department.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608EDE-F91B-7234-AE4C-E1BF6020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0012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1371294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710744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704887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5925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dept_id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487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00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38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3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512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7612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2135-8C30-B462-F537-F6ECDEBB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SQL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30ECC-1691-8E20-8593-652C7FCD8A1E}"/>
              </a:ext>
            </a:extLst>
          </p:cNvPr>
          <p:cNvSpPr txBox="1"/>
          <p:nvPr/>
        </p:nvSpPr>
        <p:spPr>
          <a:xfrm>
            <a:off x="1439694" y="1371601"/>
            <a:ext cx="77310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SELECT </a:t>
            </a:r>
            <a:r>
              <a:rPr lang="en-IN" sz="2000" dirty="0" err="1"/>
              <a:t>dept_id</a:t>
            </a:r>
            <a:r>
              <a:rPr lang="en-IN" sz="2000" dirty="0"/>
              <a:t>, name, marks</a:t>
            </a:r>
          </a:p>
          <a:p>
            <a:r>
              <a:rPr lang="en-IN" sz="2000" dirty="0"/>
              <a:t>FROM students</a:t>
            </a:r>
          </a:p>
          <a:p>
            <a:r>
              <a:rPr lang="en-IN" sz="2000" dirty="0"/>
              <a:t>WHERE marks IN (</a:t>
            </a:r>
          </a:p>
          <a:p>
            <a:r>
              <a:rPr lang="en-IN" sz="2000" dirty="0"/>
              <a:t>    SELECT MAX(marks)</a:t>
            </a:r>
          </a:p>
          <a:p>
            <a:r>
              <a:rPr lang="en-IN" sz="2000" dirty="0"/>
              <a:t>    FROM students</a:t>
            </a:r>
          </a:p>
          <a:p>
            <a:r>
              <a:rPr lang="en-IN" sz="2000" dirty="0"/>
              <a:t>    GROUP BY </a:t>
            </a:r>
            <a:r>
              <a:rPr lang="en-IN" sz="2000" dirty="0" err="1"/>
              <a:t>dept_id</a:t>
            </a:r>
            <a:endParaRPr lang="en-IN" sz="2000" dirty="0"/>
          </a:p>
          <a:p>
            <a:r>
              <a:rPr lang="en-IN" sz="2000" dirty="0"/>
              <a:t>);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550595-978A-1E3F-0814-895E1F6B5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12874"/>
              </p:ext>
            </p:extLst>
          </p:nvPr>
        </p:nvGraphicFramePr>
        <p:xfrm>
          <a:off x="1013298" y="4368999"/>
          <a:ext cx="10515600" cy="1493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757018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69721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56204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/>
                        <a:t>dept_id</a:t>
                      </a:r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3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883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72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31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3089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319B-7E95-247F-1B77-BCDA9C93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Problem Statement — Customer Order Management with Subquery Twists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3D42-FA3E-FE29-1149-8C58304BC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company wants to analyze its customer orders.</a:t>
            </a:r>
            <a:br>
              <a:rPr lang="en-US" dirty="0"/>
            </a:br>
            <a:r>
              <a:rPr lang="en-US" dirty="0"/>
              <a:t>You need to:</a:t>
            </a:r>
          </a:p>
          <a:p>
            <a:r>
              <a:rPr lang="en-US" dirty="0"/>
              <a:t>Create Customer and Orders tables (DDL).</a:t>
            </a:r>
          </a:p>
          <a:p>
            <a:r>
              <a:rPr lang="en-US" dirty="0"/>
              <a:t>Insert and modify sample records (DML).</a:t>
            </a:r>
          </a:p>
          <a:p>
            <a:r>
              <a:rPr lang="en-US" dirty="0"/>
              <a:t>Grant and revoke permissions (DCL).</a:t>
            </a:r>
          </a:p>
          <a:p>
            <a:r>
              <a:rPr lang="en-US" dirty="0"/>
              <a:t>Write </a:t>
            </a:r>
            <a:r>
              <a:rPr lang="en-US" b="1" dirty="0"/>
              <a:t>Subquery Twists</a:t>
            </a:r>
            <a:r>
              <a:rPr lang="en-US" dirty="0"/>
              <a:t> to analyze customer and order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6650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C035-A0EA-412E-05C7-F78E4D794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7176"/>
            <a:ext cx="10744200" cy="6734174"/>
          </a:xfrm>
        </p:spPr>
        <p:txBody>
          <a:bodyPr>
            <a:normAutofit fontScale="77500" lnSpcReduction="20000"/>
          </a:bodyPr>
          <a:lstStyle/>
          <a:p>
            <a:r>
              <a:rPr lang="en-US" sz="3100" b="1" dirty="0">
                <a:solidFill>
                  <a:schemeClr val="bg1"/>
                </a:solidFill>
              </a:rPr>
              <a:t>Step 1 – DDL (Create Tables)</a:t>
            </a:r>
          </a:p>
          <a:p>
            <a:pPr marL="0" indent="0">
              <a:buNone/>
            </a:pPr>
            <a:r>
              <a:rPr lang="en-US" sz="3100" dirty="0">
                <a:solidFill>
                  <a:schemeClr val="bg1"/>
                </a:solidFill>
              </a:rPr>
              <a:t>CREATE DATABASE </a:t>
            </a:r>
            <a:r>
              <a:rPr lang="en-US" sz="3100" dirty="0" err="1">
                <a:solidFill>
                  <a:schemeClr val="bg1"/>
                </a:solidFill>
              </a:rPr>
              <a:t>OrderDB</a:t>
            </a:r>
            <a:r>
              <a:rPr lang="en-US" sz="3100" dirty="0">
                <a:solidFill>
                  <a:schemeClr val="bg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100" dirty="0"/>
              <a:t>USE </a:t>
            </a:r>
            <a:r>
              <a:rPr lang="en-US" sz="3100" dirty="0" err="1"/>
              <a:t>OrderDB</a:t>
            </a:r>
            <a:r>
              <a:rPr lang="en-US" sz="3100" dirty="0"/>
              <a:t>;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CREATE TABLE Customer (</a:t>
            </a:r>
          </a:p>
          <a:p>
            <a:pPr marL="0" indent="0">
              <a:buNone/>
            </a:pPr>
            <a:r>
              <a:rPr lang="en-US" sz="3100" dirty="0"/>
              <a:t>    </a:t>
            </a:r>
            <a:r>
              <a:rPr lang="en-US" sz="3100" dirty="0" err="1"/>
              <a:t>cust_id</a:t>
            </a:r>
            <a:r>
              <a:rPr lang="en-US" sz="3100" dirty="0"/>
              <a:t> INT PRIMARY KEY,</a:t>
            </a:r>
          </a:p>
          <a:p>
            <a:pPr marL="0" indent="0">
              <a:buNone/>
            </a:pPr>
            <a:r>
              <a:rPr lang="en-US" sz="3100" dirty="0"/>
              <a:t>    </a:t>
            </a:r>
            <a:r>
              <a:rPr lang="en-US" sz="3100" dirty="0" err="1"/>
              <a:t>cust_name</a:t>
            </a:r>
            <a:r>
              <a:rPr lang="en-US" sz="3100" dirty="0"/>
              <a:t> VARCHAR(50),</a:t>
            </a:r>
          </a:p>
          <a:p>
            <a:pPr marL="0" indent="0">
              <a:buNone/>
            </a:pPr>
            <a:r>
              <a:rPr lang="en-US" sz="3100" dirty="0"/>
              <a:t>    city VARCHAR(50)</a:t>
            </a:r>
          </a:p>
          <a:p>
            <a:pPr marL="0" indent="0">
              <a:buNone/>
            </a:pPr>
            <a:r>
              <a:rPr lang="en-US" sz="3100" dirty="0"/>
              <a:t>);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CREATE TABLE Orders (</a:t>
            </a:r>
          </a:p>
          <a:p>
            <a:pPr marL="0" indent="0">
              <a:buNone/>
            </a:pPr>
            <a:r>
              <a:rPr lang="en-US" sz="3100" dirty="0"/>
              <a:t>    </a:t>
            </a:r>
            <a:r>
              <a:rPr lang="en-US" sz="3100" dirty="0" err="1"/>
              <a:t>order_id</a:t>
            </a:r>
            <a:r>
              <a:rPr lang="en-US" sz="3100" dirty="0"/>
              <a:t> INT PRIMARY KEY,</a:t>
            </a:r>
          </a:p>
          <a:p>
            <a:pPr marL="0" indent="0">
              <a:buNone/>
            </a:pPr>
            <a:r>
              <a:rPr lang="en-US" sz="3100" dirty="0"/>
              <a:t>    </a:t>
            </a:r>
            <a:r>
              <a:rPr lang="en-US" sz="3100" dirty="0" err="1"/>
              <a:t>cust_id</a:t>
            </a:r>
            <a:r>
              <a:rPr lang="en-US" sz="3100" dirty="0"/>
              <a:t> INT,</a:t>
            </a:r>
          </a:p>
          <a:p>
            <a:pPr marL="0" indent="0">
              <a:buNone/>
            </a:pPr>
            <a:r>
              <a:rPr lang="en-US" sz="3100" dirty="0"/>
              <a:t>    </a:t>
            </a:r>
            <a:r>
              <a:rPr lang="en-US" sz="3100" dirty="0" err="1"/>
              <a:t>order_date</a:t>
            </a:r>
            <a:r>
              <a:rPr lang="en-US" sz="3100" dirty="0"/>
              <a:t> DATE,</a:t>
            </a:r>
          </a:p>
          <a:p>
            <a:pPr marL="0" indent="0">
              <a:buNone/>
            </a:pPr>
            <a:r>
              <a:rPr lang="en-US" sz="3100" dirty="0"/>
              <a:t>    amount DECIMAL(10,2),</a:t>
            </a:r>
          </a:p>
          <a:p>
            <a:pPr marL="0" indent="0">
              <a:buNone/>
            </a:pPr>
            <a:r>
              <a:rPr lang="en-US" sz="3100" dirty="0"/>
              <a:t>    FOREIGN KEY (</a:t>
            </a:r>
            <a:r>
              <a:rPr lang="en-US" sz="3100" dirty="0" err="1"/>
              <a:t>cust_id</a:t>
            </a:r>
            <a:r>
              <a:rPr lang="en-US" sz="3100" dirty="0"/>
              <a:t>) REFERENCES Customer(</a:t>
            </a:r>
            <a:r>
              <a:rPr lang="en-US" sz="3100" dirty="0" err="1"/>
              <a:t>cust_id</a:t>
            </a:r>
            <a:r>
              <a:rPr lang="en-US" sz="3100" dirty="0"/>
              <a:t>)</a:t>
            </a:r>
          </a:p>
          <a:p>
            <a:pPr marL="0" indent="0">
              <a:buNone/>
            </a:pPr>
            <a:r>
              <a:rPr lang="en-US" sz="3100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0545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56D5-3489-5A62-CA04-47781D19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Step 2 – DML (Insert &amp; Update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67F5-B3EF-3075-71AF-AD2AB66F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028699"/>
            <a:ext cx="10839450" cy="5953125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INSERT INTO </a:t>
            </a:r>
            <a:r>
              <a:rPr lang="en-IN" b="1" dirty="0"/>
              <a:t>Customer</a:t>
            </a:r>
            <a:r>
              <a:rPr lang="en-IN" dirty="0"/>
              <a:t> VALUES</a:t>
            </a:r>
          </a:p>
          <a:p>
            <a:r>
              <a:rPr lang="en-IN" dirty="0"/>
              <a:t>(1, 'Alice', 'Chennai'),</a:t>
            </a:r>
          </a:p>
          <a:p>
            <a:r>
              <a:rPr lang="en-IN" dirty="0"/>
              <a:t>(2, 'Bob', 'Bangalore'),</a:t>
            </a:r>
          </a:p>
          <a:p>
            <a:r>
              <a:rPr lang="en-IN" dirty="0"/>
              <a:t>(3, 'Charlie', 'Chennai'),</a:t>
            </a:r>
          </a:p>
          <a:p>
            <a:r>
              <a:rPr lang="en-IN" dirty="0"/>
              <a:t>(4, 'David', 'Mumbai'),</a:t>
            </a:r>
          </a:p>
          <a:p>
            <a:r>
              <a:rPr lang="en-IN" dirty="0"/>
              <a:t>(5, 'Eva', 'Delhi');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3509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4AC9-3EE3-241B-F290-007F200E6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2E15C-0AAD-0266-6FDA-87B57937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119188"/>
            <a:ext cx="10515600" cy="5491162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3400" dirty="0"/>
              <a:t>INSERT INTO </a:t>
            </a:r>
            <a:r>
              <a:rPr lang="en-IN" sz="3400" dirty="0">
                <a:solidFill>
                  <a:srgbClr val="C00000"/>
                </a:solidFill>
              </a:rPr>
              <a:t>Orders</a:t>
            </a:r>
            <a:r>
              <a:rPr lang="en-IN" sz="3400" dirty="0"/>
              <a:t> VALUES</a:t>
            </a:r>
          </a:p>
          <a:p>
            <a:pPr marL="0" indent="0">
              <a:buNone/>
            </a:pPr>
            <a:r>
              <a:rPr lang="en-IN" sz="3400" dirty="0"/>
              <a:t>(101, 1, '2025-10-01', 2500.00),</a:t>
            </a:r>
          </a:p>
          <a:p>
            <a:pPr marL="0" indent="0">
              <a:buNone/>
            </a:pPr>
            <a:r>
              <a:rPr lang="en-IN" sz="3400" dirty="0"/>
              <a:t>(102, 1, '2025-10-10', 4000.00),</a:t>
            </a:r>
          </a:p>
          <a:p>
            <a:pPr marL="0" indent="0">
              <a:buNone/>
            </a:pPr>
            <a:r>
              <a:rPr lang="en-IN" sz="3400" dirty="0"/>
              <a:t>(103, 2, '2025-10-02', 3000.00),</a:t>
            </a:r>
          </a:p>
          <a:p>
            <a:pPr marL="0" indent="0">
              <a:buNone/>
            </a:pPr>
            <a:r>
              <a:rPr lang="en-IN" sz="3400" dirty="0"/>
              <a:t>(104, 3, '2025-10-03', 5000.00),</a:t>
            </a:r>
          </a:p>
          <a:p>
            <a:pPr marL="0" indent="0">
              <a:buNone/>
            </a:pPr>
            <a:r>
              <a:rPr lang="en-IN" sz="3400" dirty="0"/>
              <a:t>(105, 3, '2025-10-06', 2000.00),</a:t>
            </a:r>
          </a:p>
          <a:p>
            <a:pPr marL="0" indent="0">
              <a:buNone/>
            </a:pPr>
            <a:r>
              <a:rPr lang="en-IN" sz="3400" dirty="0"/>
              <a:t>(106, 4, '2025-10-04', 7000.00),</a:t>
            </a:r>
          </a:p>
          <a:p>
            <a:pPr marL="0" indent="0">
              <a:buNone/>
            </a:pPr>
            <a:r>
              <a:rPr lang="en-IN" sz="3400" dirty="0"/>
              <a:t>(107, 5, '2025-10-05', 1500.00);</a:t>
            </a:r>
          </a:p>
          <a:p>
            <a:endParaRPr lang="en-IN" sz="3400" dirty="0"/>
          </a:p>
          <a:p>
            <a:pPr marL="0" indent="0">
              <a:buNone/>
            </a:pPr>
            <a:r>
              <a:rPr lang="en-IN" sz="3400" dirty="0"/>
              <a:t>-- Update one order amount</a:t>
            </a:r>
          </a:p>
          <a:p>
            <a:pPr marL="0" indent="0">
              <a:buNone/>
            </a:pPr>
            <a:r>
              <a:rPr lang="en-IN" sz="3400" dirty="0"/>
              <a:t>UPDATE Orders SET amount = 7500.00 WHERE </a:t>
            </a:r>
            <a:r>
              <a:rPr lang="en-IN" sz="3400" dirty="0" err="1"/>
              <a:t>order_id</a:t>
            </a:r>
            <a:r>
              <a:rPr lang="en-IN" sz="3400" dirty="0"/>
              <a:t> = 106;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5920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9610-1141-887A-D118-DC528F65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Subquery Twists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92A6-936F-6A42-0B6B-8E6A87E55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1191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Nested Subquery</a:t>
            </a:r>
          </a:p>
          <a:p>
            <a:pPr marL="0" indent="0">
              <a:buNone/>
            </a:pPr>
            <a:r>
              <a:rPr lang="en-US" dirty="0"/>
              <a:t>Find all customers who have placed an order amount </a:t>
            </a:r>
            <a:r>
              <a:rPr lang="en-US" b="1" dirty="0"/>
              <a:t>greater than the average order amount</a:t>
            </a:r>
            <a:r>
              <a:rPr lang="en-US" dirty="0"/>
              <a:t> made by </a:t>
            </a:r>
            <a:r>
              <a:rPr lang="en-US" b="1" dirty="0"/>
              <a:t>'Alice'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8FD55-C705-E2CC-B22B-D3EA77DC9B00}"/>
              </a:ext>
            </a:extLst>
          </p:cNvPr>
          <p:cNvSpPr txBox="1"/>
          <p:nvPr/>
        </p:nvSpPr>
        <p:spPr>
          <a:xfrm>
            <a:off x="666750" y="2764572"/>
            <a:ext cx="946785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SELECT </a:t>
            </a:r>
            <a:r>
              <a:rPr lang="en-IN" sz="2000" dirty="0" err="1"/>
              <a:t>cust_name</a:t>
            </a:r>
            <a:endParaRPr lang="en-IN" sz="2000" dirty="0"/>
          </a:p>
          <a:p>
            <a:r>
              <a:rPr lang="en-IN" sz="2000" dirty="0"/>
              <a:t>FROM </a:t>
            </a:r>
            <a:r>
              <a:rPr lang="en-IN" sz="2000" b="1" dirty="0"/>
              <a:t>Customer</a:t>
            </a:r>
          </a:p>
          <a:p>
            <a:r>
              <a:rPr lang="en-IN" sz="2000" dirty="0"/>
              <a:t>WHERE </a:t>
            </a:r>
            <a:r>
              <a:rPr lang="en-IN" sz="2000" dirty="0" err="1"/>
              <a:t>cust_id</a:t>
            </a:r>
            <a:r>
              <a:rPr lang="en-IN" sz="2000" dirty="0"/>
              <a:t> </a:t>
            </a:r>
            <a:r>
              <a:rPr lang="en-IN" sz="2000" b="1" dirty="0"/>
              <a:t>IN</a:t>
            </a:r>
            <a:r>
              <a:rPr lang="en-IN" sz="2000" dirty="0"/>
              <a:t> (</a:t>
            </a:r>
          </a:p>
          <a:p>
            <a:r>
              <a:rPr lang="en-IN" sz="2000" dirty="0"/>
              <a:t>    SELECT </a:t>
            </a:r>
            <a:r>
              <a:rPr lang="en-IN" sz="2000" dirty="0" err="1"/>
              <a:t>cust_id</a:t>
            </a:r>
            <a:endParaRPr lang="en-IN" sz="2000" dirty="0"/>
          </a:p>
          <a:p>
            <a:r>
              <a:rPr lang="en-IN" sz="2000" dirty="0"/>
              <a:t>    FROM </a:t>
            </a:r>
            <a:r>
              <a:rPr lang="en-IN" sz="2000" b="1" dirty="0"/>
              <a:t>Orders</a:t>
            </a:r>
          </a:p>
          <a:p>
            <a:r>
              <a:rPr lang="en-IN" sz="2000" dirty="0"/>
              <a:t>    WHERE </a:t>
            </a:r>
            <a:r>
              <a:rPr lang="en-IN" sz="2000" b="1" dirty="0"/>
              <a:t>amount</a:t>
            </a:r>
            <a:r>
              <a:rPr lang="en-IN" sz="2000" dirty="0"/>
              <a:t> &gt; (</a:t>
            </a:r>
          </a:p>
          <a:p>
            <a:r>
              <a:rPr lang="en-IN" sz="2000" dirty="0"/>
              <a:t>        SELECT AVG(</a:t>
            </a:r>
            <a:r>
              <a:rPr lang="en-IN" sz="2000" b="1" dirty="0"/>
              <a:t>amount</a:t>
            </a:r>
            <a:r>
              <a:rPr lang="en-IN" sz="2000" dirty="0"/>
              <a:t>)</a:t>
            </a:r>
          </a:p>
          <a:p>
            <a:r>
              <a:rPr lang="en-IN" sz="2000" dirty="0"/>
              <a:t>        FROM Orders</a:t>
            </a:r>
          </a:p>
          <a:p>
            <a:r>
              <a:rPr lang="en-IN" sz="2000" dirty="0"/>
              <a:t>        WHERE </a:t>
            </a:r>
            <a:r>
              <a:rPr lang="en-IN" sz="2000" dirty="0" err="1"/>
              <a:t>cust_id</a:t>
            </a:r>
            <a:r>
              <a:rPr lang="en-IN" sz="2000" dirty="0"/>
              <a:t> = (</a:t>
            </a:r>
          </a:p>
          <a:p>
            <a:r>
              <a:rPr lang="en-IN" sz="2000" dirty="0"/>
              <a:t>            SELECT </a:t>
            </a:r>
            <a:r>
              <a:rPr lang="en-IN" sz="2000" dirty="0" err="1"/>
              <a:t>cust_id</a:t>
            </a:r>
            <a:r>
              <a:rPr lang="en-IN" sz="2000" dirty="0"/>
              <a:t> FROM Customer WHERE </a:t>
            </a:r>
            <a:r>
              <a:rPr lang="en-IN" sz="2000" dirty="0" err="1"/>
              <a:t>cust_name</a:t>
            </a:r>
            <a:r>
              <a:rPr lang="en-IN" sz="2000" dirty="0"/>
              <a:t> = 'Alice'</a:t>
            </a:r>
          </a:p>
          <a:p>
            <a:r>
              <a:rPr lang="en-IN" sz="2000" dirty="0"/>
              <a:t>        )</a:t>
            </a:r>
          </a:p>
          <a:p>
            <a:r>
              <a:rPr lang="en-IN" sz="2000" dirty="0"/>
              <a:t>    )</a:t>
            </a:r>
          </a:p>
          <a:p>
            <a:r>
              <a:rPr lang="en-IN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1582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Presentation" id="{88106A9F-17D8-45CC-97CF-533AC869E6A5}" vid="{ED94DA75-3826-48E7-9F99-5ABE9B17F2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Presentation</Template>
  <TotalTime>4164</TotalTime>
  <Words>3591</Words>
  <Application>Microsoft Office PowerPoint</Application>
  <PresentationFormat>Widescreen</PresentationFormat>
  <Paragraphs>780</Paragraphs>
  <Slides>72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Courier New</vt:lpstr>
      <vt:lpstr>Georgia</vt:lpstr>
      <vt:lpstr>Wingdings</vt:lpstr>
      <vt:lpstr>Office Theme</vt:lpstr>
      <vt:lpstr>PowerPoint Presentation</vt:lpstr>
      <vt:lpstr>SQL - Constraints</vt:lpstr>
      <vt:lpstr>PowerPoint Presentation</vt:lpstr>
      <vt:lpstr>Syntax </vt:lpstr>
      <vt:lpstr>NOT NULL Constraint (on Student table)</vt:lpstr>
      <vt:lpstr>UNIQUE Constraint (on Student table)</vt:lpstr>
      <vt:lpstr>CHECK </vt:lpstr>
      <vt:lpstr>DEFAULT Constraint (on Student Status)</vt:lpstr>
      <vt:lpstr>PowerPoint Presentation</vt:lpstr>
      <vt:lpstr>PowerPoint Presentation</vt:lpstr>
      <vt:lpstr>Difference between primary / foreign key</vt:lpstr>
      <vt:lpstr>PowerPoint Presentation</vt:lpstr>
      <vt:lpstr>Primary Key: </vt:lpstr>
      <vt:lpstr>Primary Key</vt:lpstr>
      <vt:lpstr>FOREIGN KEY Constraint (Student → Department) </vt:lpstr>
      <vt:lpstr>FOREIGN KEY Constraint (Student → Department) </vt:lpstr>
      <vt:lpstr>PowerPoint Presentation</vt:lpstr>
      <vt:lpstr>PowerPoint Presentation</vt:lpstr>
      <vt:lpstr>PowerPoint Presentation</vt:lpstr>
      <vt:lpstr>Combined Table with All Constraints:</vt:lpstr>
      <vt:lpstr>Test Queries for Practice:</vt:lpstr>
      <vt:lpstr>Problem Statement # Two tables: Primary and Foreign Key</vt:lpstr>
      <vt:lpstr>PowerPoint Presentation</vt:lpstr>
      <vt:lpstr>Data Insertion:</vt:lpstr>
      <vt:lpstr>PowerPoint Presentation</vt:lpstr>
      <vt:lpstr>PowerPoint Presentation</vt:lpstr>
      <vt:lpstr>Error occur :</vt:lpstr>
      <vt:lpstr>Working properly : Parent and child relationship table </vt:lpstr>
      <vt:lpstr>PowerPoint Presentation</vt:lpstr>
      <vt:lpstr>What is a SubQuery?</vt:lpstr>
      <vt:lpstr>Why use a SubQuery?</vt:lpstr>
      <vt:lpstr>Single Row SubQuery – returns one value.</vt:lpstr>
      <vt:lpstr>SubQuery in WHERE Clause (Single Row)</vt:lpstr>
      <vt:lpstr>output</vt:lpstr>
      <vt:lpstr> SubQuery with IN (Multiple Row SubQuery)</vt:lpstr>
      <vt:lpstr>PowerPoint Presentation</vt:lpstr>
      <vt:lpstr>PowerPoint Presentation</vt:lpstr>
      <vt:lpstr>PowerPoint Presentation</vt:lpstr>
      <vt:lpstr> </vt:lpstr>
      <vt:lpstr>Output</vt:lpstr>
      <vt:lpstr>Find the Employee with the Second Highest Salary</vt:lpstr>
      <vt:lpstr>PowerPoint Presentation</vt:lpstr>
      <vt:lpstr>Find Students Who Scored Above the Class Average</vt:lpstr>
      <vt:lpstr>PowerPoint Presentation</vt:lpstr>
      <vt:lpstr>Student Table </vt:lpstr>
      <vt:lpstr> Simple Subquery</vt:lpstr>
      <vt:lpstr>Subquery with Comparison</vt:lpstr>
      <vt:lpstr>PowerPoint Presentation</vt:lpstr>
      <vt:lpstr>Subquery with IN</vt:lpstr>
      <vt:lpstr>PowerPoint Presentation</vt:lpstr>
      <vt:lpstr>Subquery with NOT IN</vt:lpstr>
      <vt:lpstr>PowerPoint Presentation</vt:lpstr>
      <vt:lpstr>Problem Statement: </vt:lpstr>
      <vt:lpstr>Table 1: Department</vt:lpstr>
      <vt:lpstr>Table 2: Employee</vt:lpstr>
      <vt:lpstr>SQL Queries</vt:lpstr>
      <vt:lpstr>Sample Input </vt:lpstr>
      <vt:lpstr>PowerPoint Presentation</vt:lpstr>
      <vt:lpstr>PowerPoint Presentation</vt:lpstr>
      <vt:lpstr>PowerPoint Presentation</vt:lpstr>
      <vt:lpstr>Problem 1 — Find students who belong to “IT” department </vt:lpstr>
      <vt:lpstr>PowerPoint Presentation</vt:lpstr>
      <vt:lpstr>PowerPoint Presentation</vt:lpstr>
      <vt:lpstr>Problem 2 — Find students with marks greater than average marks</vt:lpstr>
      <vt:lpstr>SQL Query</vt:lpstr>
      <vt:lpstr>Problem 3 — Find the top scorer in each department </vt:lpstr>
      <vt:lpstr>SQL Query</vt:lpstr>
      <vt:lpstr>Problem Statement — Customer Order Management with Subquery Twists</vt:lpstr>
      <vt:lpstr>PowerPoint Presentation</vt:lpstr>
      <vt:lpstr>Step 2 – DML (Insert &amp; Update Data)</vt:lpstr>
      <vt:lpstr>PowerPoint Presentation</vt:lpstr>
      <vt:lpstr>Subquery Twists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 Banerjee</dc:creator>
  <cp:lastModifiedBy>Jayaprakash Subramaniam - Adjunct Faculty (WD)</cp:lastModifiedBy>
  <cp:revision>441</cp:revision>
  <dcterms:created xsi:type="dcterms:W3CDTF">2024-08-17T13:13:57Z</dcterms:created>
  <dcterms:modified xsi:type="dcterms:W3CDTF">2026-07-17T13:38:06Z</dcterms:modified>
</cp:coreProperties>
</file>