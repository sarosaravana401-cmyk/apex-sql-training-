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256" r:id="rId2"/>
    <p:sldId id="288" r:id="rId3"/>
    <p:sldId id="259" r:id="rId4"/>
    <p:sldId id="258" r:id="rId5"/>
    <p:sldId id="265" r:id="rId6"/>
    <p:sldId id="340" r:id="rId7"/>
    <p:sldId id="354" r:id="rId8"/>
    <p:sldId id="519" r:id="rId9"/>
    <p:sldId id="522" r:id="rId10"/>
    <p:sldId id="520" r:id="rId11"/>
    <p:sldId id="517" r:id="rId12"/>
    <p:sldId id="343" r:id="rId13"/>
    <p:sldId id="518" r:id="rId14"/>
    <p:sldId id="539" r:id="rId15"/>
    <p:sldId id="541" r:id="rId16"/>
    <p:sldId id="542" r:id="rId17"/>
    <p:sldId id="543" r:id="rId18"/>
    <p:sldId id="544" r:id="rId19"/>
    <p:sldId id="545" r:id="rId20"/>
    <p:sldId id="346" r:id="rId21"/>
    <p:sldId id="348" r:id="rId22"/>
    <p:sldId id="347" r:id="rId23"/>
    <p:sldId id="349" r:id="rId24"/>
    <p:sldId id="350" r:id="rId25"/>
    <p:sldId id="351" r:id="rId26"/>
    <p:sldId id="352" r:id="rId27"/>
    <p:sldId id="353" r:id="rId28"/>
    <p:sldId id="540" r:id="rId29"/>
    <p:sldId id="344" r:id="rId30"/>
    <p:sldId id="345" r:id="rId31"/>
    <p:sldId id="391" r:id="rId32"/>
    <p:sldId id="444" r:id="rId33"/>
    <p:sldId id="503" r:id="rId34"/>
    <p:sldId id="504" r:id="rId35"/>
    <p:sldId id="505" r:id="rId36"/>
    <p:sldId id="510" r:id="rId37"/>
    <p:sldId id="546" r:id="rId38"/>
    <p:sldId id="523" r:id="rId39"/>
    <p:sldId id="524" r:id="rId40"/>
    <p:sldId id="525" r:id="rId41"/>
    <p:sldId id="526" r:id="rId42"/>
    <p:sldId id="527" r:id="rId43"/>
    <p:sldId id="528" r:id="rId44"/>
    <p:sldId id="529" r:id="rId45"/>
    <p:sldId id="530" r:id="rId46"/>
    <p:sldId id="531" r:id="rId47"/>
    <p:sldId id="532" r:id="rId48"/>
    <p:sldId id="533" r:id="rId49"/>
    <p:sldId id="534" r:id="rId50"/>
    <p:sldId id="535" r:id="rId51"/>
    <p:sldId id="536" r:id="rId52"/>
    <p:sldId id="537" r:id="rId53"/>
    <p:sldId id="538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A6BBC8-21A1-3C7C-BB5E-79DDD1E331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952CC2-8C2A-77F0-D23B-01B5C85929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05716-FF77-4C04-95E2-80BFA64D56D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1C76AB-CE7A-82EE-06B2-06820305E0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01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5471A5-50A9-59A8-C6DE-E6D8164E72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5E072-D72A-4A05-81AE-5B169961D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91324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A21A1-ADDB-4E33-950C-F0BAB0A7249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00D455-6D77-41DB-BB86-FD17B72B0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8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0D455-6D77-41DB-BB86-FD17B72B0F8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43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D2CC6AD-1634-D603-CAF7-E78458F3EA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336" y="0"/>
            <a:ext cx="12251336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9AC3842-5CE0-8979-B31D-6D2A646AC4D7}"/>
              </a:ext>
            </a:extLst>
          </p:cNvPr>
          <p:cNvSpPr/>
          <p:nvPr userDrawn="1"/>
        </p:nvSpPr>
        <p:spPr>
          <a:xfrm>
            <a:off x="167019" y="1091327"/>
            <a:ext cx="5548301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/>
            <a:r>
              <a:rPr lang="en-US" sz="6000" b="1" u="none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Apex Seekers</a:t>
            </a:r>
          </a:p>
          <a:p>
            <a:pPr algn="l"/>
            <a:endParaRPr lang="en-US" sz="6000" b="1" u="none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5D3760-82C8-7E8E-BF98-92DCB66E43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71005" t="-210851" r="671005" b="255382"/>
          <a:stretch/>
        </p:blipFill>
        <p:spPr>
          <a:xfrm>
            <a:off x="5715320" y="2645228"/>
            <a:ext cx="837560" cy="8694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B2721D-098D-C25D-211F-90A40949A6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30"/>
          <a:stretch/>
        </p:blipFill>
        <p:spPr>
          <a:xfrm>
            <a:off x="11354440" y="6049744"/>
            <a:ext cx="837560" cy="8177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05216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4FCE5-B83C-EBEE-C377-3A0DCBC0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3D3BD-7EE5-A590-8A97-F64226E27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24849-09C7-8EE7-3BF7-5E99BEC55F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75E7B-0427-EECD-0A46-08FAA3E46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01E45-97C3-4AF8-53E9-B0BF42E7A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47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6A02A-E26B-7A6B-B9F9-45FDF1C7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9F843-0BC5-DF32-177D-C4B0A2DFE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E06E8-9EF4-A1A3-5862-5FB2A5104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12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2B023-6C19-1E1C-44AC-7DFE6CDF5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C75BB-7EE3-F369-D0CB-98CA433FAD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96DFD2-0B6C-EA87-41FA-F0828C491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8684A-5C55-7BF8-15FF-997C983713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3EABD-1F72-056B-F481-03A6DBAC9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39C81-34FA-EF96-F566-DFE81D306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83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6FE0E-50F0-3E1E-2B26-A45FA9BE3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12815-5591-751B-782F-8D7F56D63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B6694-5446-270B-9581-59E7D94AA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A2E6FB-65FF-E12D-1AF5-49FB780E59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49E7B9-2465-F615-4665-DD59414D4F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3D30E9-C85A-3115-8AF0-9E1764A300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C1543C-7475-1019-765C-D974CF043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F194F-0E13-80B6-3CCE-3A6ABAF4D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199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DD23A-C3EF-7639-50DA-14EBA84B2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CADA4-DF17-DA34-A0F8-496E73EF56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CB147-5E3E-3DA8-1E13-F9133406D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DDFABD-658C-E237-7A6F-58A1691C7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781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EF1BBE-21D4-42A3-B50B-CA043FE386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CF4D2B-E157-590D-54B1-0A9E0FC65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0632B-50D0-41D1-E303-49FC0B332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90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C98B0-BF8D-F5A5-3B14-FB736F2A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F90F8-7AAC-201C-D41F-D091B496F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D01CDA-ACEB-AEDB-31CE-12288013C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22E2B-7964-9D04-8BE1-D4E5E1F15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FF0EC-1E3B-4325-9908-27205E79F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AAF6C-36B3-D504-96AE-E22AB168C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805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ECC22-EEA4-1617-7EE1-0436895F8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30E0B8-18BD-2A23-32AC-AC601BA045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BDFF94-AFB6-C793-0C2C-3C21F5F47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DCA0E-40CC-10BA-6A8E-3F056D45F4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8E28F-4D37-3A1E-4966-FB29365BF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C59A0-C3A3-C197-437D-B31652EAF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1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0F12D-0A87-C478-11F9-71AB2CF78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C1CA44-B854-D36A-E726-80D8ABD3F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C9902-6394-64B7-0ED5-28ECFBB85F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53B08-48B5-7302-CE93-D121C4A48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2FAE4-DBA5-7D0E-50C9-9D70A01DC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124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F2A57F-283E-F049-9F13-ACD6D1E7AE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2C4C50-FB25-AEAD-9856-3409E9738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C7294-835D-39EB-8B2D-0E3155CFA8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CB37F-BFAB-5560-2853-6252137F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89E5A-369F-A385-212A-6AC911E2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15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63C03D-5AB3-13F1-7F5D-987CBCF39C0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9150"/>
            <a:ext cx="12192000" cy="603885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62790-DE33-6C09-B17D-545C67BDF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DB8951-1772-05E9-FF0E-834FC495AA51}"/>
              </a:ext>
            </a:extLst>
          </p:cNvPr>
          <p:cNvSpPr/>
          <p:nvPr userDrawn="1"/>
        </p:nvSpPr>
        <p:spPr>
          <a:xfrm>
            <a:off x="0" y="0"/>
            <a:ext cx="12192000" cy="8858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1000"/>
                  <a:alpha val="53000"/>
                </a:schemeClr>
              </a:gs>
              <a:gs pos="38000">
                <a:schemeClr val="accent1">
                  <a:satMod val="110000"/>
                  <a:shade val="100000"/>
                  <a:lumMod val="44000"/>
                </a:schemeClr>
              </a:gs>
              <a:gs pos="100000">
                <a:schemeClr val="accent1">
                  <a:satMod val="120000"/>
                  <a:shade val="78000"/>
                  <a:lumMod val="90000"/>
                </a:schemeClr>
              </a:gs>
            </a:gsLst>
            <a:lin ang="8100000" scaled="1"/>
            <a:tileRect/>
          </a:gra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B4AC4A-7088-6962-5EBB-A2EE148E76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523"/>
          <a:stretch/>
        </p:blipFill>
        <p:spPr>
          <a:xfrm>
            <a:off x="11353800" y="6066745"/>
            <a:ext cx="837560" cy="7912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B27DD472-4C5D-9F23-F0D6-32BDBC571F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D617B1-20AD-9793-CA15-0305E7349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-2063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LEARNING JOURNEY</a:t>
            </a:r>
          </a:p>
        </p:txBody>
      </p:sp>
    </p:spTree>
    <p:extLst>
      <p:ext uri="{BB962C8B-B14F-4D97-AF65-F5344CB8AC3E}">
        <p14:creationId xmlns:p14="http://schemas.microsoft.com/office/powerpoint/2010/main" val="161495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949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3018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What is SQL?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002" y="954738"/>
            <a:ext cx="10689996" cy="4948524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endParaRPr lang="en-US" sz="40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SQL is </a:t>
            </a:r>
            <a:r>
              <a:rPr lang="en-US" dirty="0">
                <a:solidFill>
                  <a:srgbClr val="FF0000"/>
                </a:solidFill>
              </a:rPr>
              <a:t>Structured Query Language</a:t>
            </a:r>
            <a:r>
              <a:rPr lang="en-US" dirty="0"/>
              <a:t>, which is a computer language for </a:t>
            </a:r>
            <a:r>
              <a:rPr lang="en-US" dirty="0">
                <a:solidFill>
                  <a:srgbClr val="0070C0"/>
                </a:solidFill>
              </a:rPr>
              <a:t>storing,   manipulating and retrieving</a:t>
            </a:r>
            <a:r>
              <a:rPr lang="en-US" dirty="0"/>
              <a:t> data stored in a relational database that is  rows and columns.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SQL is the standard language for Relational Database System.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All the Relational Database Management Systems (RDMS) like </a:t>
            </a:r>
            <a:r>
              <a:rPr lang="en-US" dirty="0">
                <a:solidFill>
                  <a:srgbClr val="FF0000"/>
                </a:solidFill>
              </a:rPr>
              <a:t>MySQL, MS Access, Oracle, Sybase, Informix SQL Server </a:t>
            </a:r>
            <a:r>
              <a:rPr lang="en-US" dirty="0"/>
              <a:t>use SQL as their standard database language.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546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952106"/>
            <a:ext cx="8839200" cy="5753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1581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936" y="44432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Why SQL?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4169" y="1168924"/>
            <a:ext cx="9975130" cy="579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SQL is required: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To create new databases, tables and views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To insert records in a database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To update records in a database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To delete records from a database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To retrieve data from a database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What SQL does: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With SQL, a user can access data from a  RDBMS.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It allows the user to describe the data.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It allows the user to define the data in the database and manipulate it when needed.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/>
              <a:t>It allows the user to create and drop database and table.</a:t>
            </a:r>
          </a:p>
          <a:p>
            <a:pPr>
              <a:buFont typeface="Wingdings" pitchFamily="2" charset="2"/>
              <a:buChar char="ü"/>
            </a:pPr>
            <a:endParaRPr lang="en-US" sz="2400" dirty="0"/>
          </a:p>
          <a:p>
            <a:pPr>
              <a:buFont typeface="Wingdings" pitchFamily="2" charset="2"/>
              <a:buChar char="ü"/>
            </a:pPr>
            <a:endParaRPr lang="en-US" sz="2400" dirty="0"/>
          </a:p>
          <a:p>
            <a:pPr>
              <a:buFont typeface="Wingdings" pitchFamily="2" charset="2"/>
              <a:buChar char="ü"/>
            </a:pPr>
            <a:endParaRPr lang="en-US" sz="2400" dirty="0"/>
          </a:p>
          <a:p>
            <a:pPr>
              <a:buFont typeface="Wingdings" pitchFamily="2" charset="2"/>
              <a:buChar char="ü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397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202" y="17541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What is a table?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2662" y="1043782"/>
            <a:ext cx="8686800" cy="5638800"/>
          </a:xfrm>
        </p:spPr>
        <p:txBody>
          <a:bodyPr>
            <a:normAutofit fontScale="77500" lnSpcReduction="2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100" dirty="0"/>
              <a:t> </a:t>
            </a:r>
            <a:r>
              <a:rPr lang="en-US" sz="2600" dirty="0"/>
              <a:t>The data in an RDBMS is stored in database objects which are called as </a:t>
            </a:r>
            <a:r>
              <a:rPr lang="en-US" sz="2600" b="1" dirty="0">
                <a:solidFill>
                  <a:srgbClr val="FF0000"/>
                </a:solidFill>
              </a:rPr>
              <a:t>tables</a:t>
            </a:r>
            <a:r>
              <a:rPr lang="en-US" sz="2600" dirty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6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 table is basically a collection of related data entries and it consists of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  numerous </a:t>
            </a:r>
            <a:r>
              <a:rPr lang="en-US" sz="2600" dirty="0">
                <a:solidFill>
                  <a:srgbClr val="FF0000"/>
                </a:solidFill>
              </a:rPr>
              <a:t>columns and rows.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Customer Table:</a:t>
            </a:r>
          </a:p>
          <a:p>
            <a:pPr marL="0" indent="0">
              <a:buNone/>
            </a:pPr>
            <a:r>
              <a:rPr lang="en-US" sz="2400" dirty="0"/>
              <a:t> +----+----------+-----+-----------+----------+----------</a:t>
            </a:r>
          </a:p>
          <a:p>
            <a:pPr marL="0" indent="0">
              <a:buNone/>
            </a:pPr>
            <a:r>
              <a:rPr lang="en-US" sz="2400" dirty="0"/>
              <a:t>| ID | NAME     | AGE  | ADDRESS   | SALARY   |</a:t>
            </a:r>
          </a:p>
          <a:p>
            <a:pPr marL="0" indent="0">
              <a:buNone/>
            </a:pPr>
            <a:r>
              <a:rPr lang="en-US" sz="2400" dirty="0"/>
              <a:t>+----+----------+-----+-----------+---------------------+</a:t>
            </a:r>
          </a:p>
          <a:p>
            <a:pPr marL="0" indent="0">
              <a:buNone/>
            </a:pPr>
            <a:r>
              <a:rPr lang="en-US" sz="2400" dirty="0"/>
              <a:t>|  1 | Ramesh   |  32  Ahmedabad |  2000.00 |</a:t>
            </a:r>
          </a:p>
          <a:p>
            <a:pPr marL="0" indent="0">
              <a:buNone/>
            </a:pPr>
            <a:r>
              <a:rPr lang="en-US" sz="2400" dirty="0"/>
              <a:t>|  2 | </a:t>
            </a:r>
            <a:r>
              <a:rPr lang="en-US" sz="2400" dirty="0" err="1"/>
              <a:t>Khilan</a:t>
            </a:r>
            <a:r>
              <a:rPr lang="en-US" sz="2400" dirty="0"/>
              <a:t>     |  25  | Delhi            |  1500.00 |</a:t>
            </a:r>
          </a:p>
          <a:p>
            <a:pPr marL="0" indent="0">
              <a:buNone/>
            </a:pPr>
            <a:r>
              <a:rPr lang="en-US" sz="2400" dirty="0"/>
              <a:t>|  3 | </a:t>
            </a:r>
            <a:r>
              <a:rPr lang="en-US" sz="2400" dirty="0" err="1"/>
              <a:t>kaushik</a:t>
            </a:r>
            <a:r>
              <a:rPr lang="en-US" sz="2400" dirty="0"/>
              <a:t>  |  23  | Kota              |  2000.00 |</a:t>
            </a:r>
          </a:p>
          <a:p>
            <a:pPr marL="0" indent="0">
              <a:buNone/>
            </a:pPr>
            <a:r>
              <a:rPr lang="en-US" sz="2400" dirty="0"/>
              <a:t>|  4 | </a:t>
            </a:r>
            <a:r>
              <a:rPr lang="en-US" sz="2400" dirty="0" err="1"/>
              <a:t>Chaitali</a:t>
            </a:r>
            <a:r>
              <a:rPr lang="en-US" sz="2400" dirty="0"/>
              <a:t>  |  25  | Mumbai       |  6500.00 |</a:t>
            </a:r>
          </a:p>
          <a:p>
            <a:pPr marL="0" indent="0">
              <a:buNone/>
            </a:pPr>
            <a:r>
              <a:rPr lang="en-US" sz="2400" dirty="0"/>
              <a:t>|  5 | </a:t>
            </a:r>
            <a:r>
              <a:rPr lang="en-US" sz="2400" dirty="0" err="1"/>
              <a:t>Hardik</a:t>
            </a:r>
            <a:r>
              <a:rPr lang="en-US" sz="2400" dirty="0"/>
              <a:t>    |  27  | Bhopal         |  8500.00 |</a:t>
            </a:r>
          </a:p>
          <a:p>
            <a:pPr marL="0" indent="0">
              <a:buNone/>
            </a:pPr>
            <a:r>
              <a:rPr lang="en-US" sz="2400" dirty="0"/>
              <a:t>|  6 | </a:t>
            </a:r>
            <a:r>
              <a:rPr lang="en-US" sz="2400" dirty="0" err="1"/>
              <a:t>Komal</a:t>
            </a:r>
            <a:r>
              <a:rPr lang="en-US" sz="2400" dirty="0"/>
              <a:t>    |  22  | MP                |  4500.00 |</a:t>
            </a:r>
          </a:p>
          <a:p>
            <a:pPr marL="0" indent="0">
              <a:buNone/>
            </a:pPr>
            <a:r>
              <a:rPr lang="en-US" sz="2400" dirty="0"/>
              <a:t>|  7 | </a:t>
            </a:r>
            <a:r>
              <a:rPr lang="en-US" sz="2400" dirty="0" err="1"/>
              <a:t>Muffy</a:t>
            </a:r>
            <a:r>
              <a:rPr lang="en-US" sz="2400" dirty="0"/>
              <a:t>     I    24  | Indore        | 10000.00 |</a:t>
            </a:r>
          </a:p>
          <a:p>
            <a:pPr marL="0" indent="0">
              <a:buNone/>
            </a:pPr>
            <a:r>
              <a:rPr lang="en-US" sz="2400" dirty="0"/>
              <a:t>+----+----------+-----+-----------+----------+-----------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114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079F02-677E-8F7F-A360-2CE43BAA0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08" y="828474"/>
            <a:ext cx="9680426" cy="54908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2F677F-ADA4-74FB-651E-DEC591309812}"/>
              </a:ext>
            </a:extLst>
          </p:cNvPr>
          <p:cNvSpPr txBox="1"/>
          <p:nvPr/>
        </p:nvSpPr>
        <p:spPr>
          <a:xfrm>
            <a:off x="650450" y="80590"/>
            <a:ext cx="61604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MySQL Command Line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289808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54534-1FE1-7869-F458-60B69342E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1CC90F-A0B6-F66F-6374-32C470525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848" y="985015"/>
            <a:ext cx="8479682" cy="48218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F2844F-2785-3D15-367D-FA5479B9AE39}"/>
              </a:ext>
            </a:extLst>
          </p:cNvPr>
          <p:cNvSpPr txBox="1"/>
          <p:nvPr/>
        </p:nvSpPr>
        <p:spPr>
          <a:xfrm>
            <a:off x="770640" y="194796"/>
            <a:ext cx="61604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0" i="0" dirty="0">
                <a:solidFill>
                  <a:schemeClr val="bg1"/>
                </a:solidFill>
                <a:effectLst/>
                <a:latin typeface="erdana"/>
              </a:rPr>
              <a:t>SQL </a:t>
            </a:r>
            <a:r>
              <a:rPr lang="en-IN" sz="3200" b="0" i="0" dirty="0">
                <a:solidFill>
                  <a:schemeClr val="bg1"/>
                </a:solidFill>
                <a:effectLst/>
                <a:latin typeface="erdana"/>
              </a:rPr>
              <a:t>Statement</a:t>
            </a:r>
            <a:r>
              <a:rPr lang="en-IN" sz="2800" b="0" i="0" dirty="0">
                <a:solidFill>
                  <a:schemeClr val="bg1"/>
                </a:solidFill>
                <a:effectLst/>
                <a:latin typeface="erdan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5139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B0020-1B7B-AD43-7C50-D0A4EB34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1. DDL – Data Definition Language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81EFB-1364-90DB-246E-0700FBD2C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1429698"/>
            <a:ext cx="11651530" cy="508422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DDL commands </a:t>
            </a:r>
            <a:r>
              <a:rPr lang="en-US" dirty="0"/>
              <a:t>are used to </a:t>
            </a:r>
            <a:r>
              <a:rPr lang="en-US" b="1" dirty="0"/>
              <a:t>define or modify </a:t>
            </a:r>
            <a:r>
              <a:rPr lang="en-US" dirty="0"/>
              <a:t>the structure of the database (tables, schemas, etc.).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Common DDL Commands: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CREATE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ALTER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DROP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TRUNCATE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9226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6B2028-E20F-19B7-6F29-A5E96FAA0B81}"/>
              </a:ext>
            </a:extLst>
          </p:cNvPr>
          <p:cNvSpPr txBox="1">
            <a:spLocks/>
          </p:cNvSpPr>
          <p:nvPr/>
        </p:nvSpPr>
        <p:spPr>
          <a:xfrm>
            <a:off x="927615" y="881451"/>
            <a:ext cx="9646024" cy="513284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endParaRPr lang="en-US" sz="1900" dirty="0">
              <a:solidFill>
                <a:srgbClr val="610B4B"/>
              </a:solidFill>
              <a:latin typeface="erdana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3600" dirty="0">
              <a:solidFill>
                <a:srgbClr val="610B4B"/>
              </a:solidFill>
              <a:latin typeface="erdana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3600" dirty="0">
              <a:solidFill>
                <a:srgbClr val="610B4B"/>
              </a:solidFill>
              <a:latin typeface="erdana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3600" dirty="0">
                <a:solidFill>
                  <a:srgbClr val="610B4B"/>
                </a:solidFill>
                <a:latin typeface="erdana"/>
              </a:rPr>
              <a:t>Syntax of Create / Drop Database statement in SQL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3600" dirty="0">
              <a:solidFill>
                <a:srgbClr val="610B4B"/>
              </a:solidFill>
              <a:latin typeface="erdana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2600" b="1" dirty="0">
                <a:solidFill>
                  <a:srgbClr val="006699"/>
                </a:solidFill>
                <a:latin typeface="inter-regular"/>
              </a:rPr>
              <a:t>           </a:t>
            </a:r>
            <a:r>
              <a:rPr lang="en-US" sz="3400" b="1" dirty="0">
                <a:solidFill>
                  <a:srgbClr val="006699"/>
                </a:solidFill>
                <a:latin typeface="inter-regular"/>
              </a:rPr>
              <a:t>CREATE</a:t>
            </a:r>
            <a:r>
              <a:rPr lang="en-US" sz="3400" dirty="0">
                <a:solidFill>
                  <a:srgbClr val="000000"/>
                </a:solidFill>
                <a:latin typeface="inter-regular"/>
              </a:rPr>
              <a:t> </a:t>
            </a:r>
            <a:r>
              <a:rPr lang="en-US" sz="3400" b="1" dirty="0">
                <a:solidFill>
                  <a:srgbClr val="006699"/>
                </a:solidFill>
                <a:latin typeface="inter-regular"/>
              </a:rPr>
              <a:t>DATABASE</a:t>
            </a:r>
            <a:r>
              <a:rPr lang="en-US" sz="3400" dirty="0">
                <a:solidFill>
                  <a:srgbClr val="000000"/>
                </a:solidFill>
                <a:latin typeface="inter-regular"/>
              </a:rPr>
              <a:t> </a:t>
            </a:r>
            <a:r>
              <a:rPr lang="en-US" sz="3400" dirty="0" err="1">
                <a:solidFill>
                  <a:srgbClr val="000000"/>
                </a:solidFill>
                <a:latin typeface="inter-regular"/>
              </a:rPr>
              <a:t>Database_Name</a:t>
            </a:r>
            <a:r>
              <a:rPr lang="en-US" sz="3400" dirty="0">
                <a:solidFill>
                  <a:srgbClr val="000000"/>
                </a:solidFill>
                <a:latin typeface="inter-regular"/>
              </a:rPr>
              <a:t>;  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3400" dirty="0">
                <a:solidFill>
                  <a:srgbClr val="000000"/>
                </a:solidFill>
                <a:latin typeface="inter-regular"/>
              </a:rPr>
              <a:t>            </a:t>
            </a:r>
            <a:r>
              <a:rPr lang="en-IN" sz="3400" b="1" dirty="0">
                <a:solidFill>
                  <a:srgbClr val="006699"/>
                </a:solidFill>
                <a:latin typeface="inter-regular"/>
              </a:rPr>
              <a:t>DROP</a:t>
            </a:r>
            <a:r>
              <a:rPr lang="en-IN" sz="3400" dirty="0">
                <a:solidFill>
                  <a:srgbClr val="000000"/>
                </a:solidFill>
                <a:latin typeface="inter-regular"/>
              </a:rPr>
              <a:t> </a:t>
            </a:r>
            <a:r>
              <a:rPr lang="en-IN" sz="3400" b="1" dirty="0">
                <a:solidFill>
                  <a:srgbClr val="006699"/>
                </a:solidFill>
                <a:latin typeface="inter-regular"/>
              </a:rPr>
              <a:t>DATABASE</a:t>
            </a:r>
            <a:r>
              <a:rPr lang="en-IN" sz="3400" dirty="0">
                <a:solidFill>
                  <a:srgbClr val="000000"/>
                </a:solidFill>
                <a:latin typeface="inter-regular"/>
              </a:rPr>
              <a:t> </a:t>
            </a:r>
            <a:r>
              <a:rPr lang="en-IN" sz="3400" dirty="0" err="1">
                <a:solidFill>
                  <a:srgbClr val="000000"/>
                </a:solidFill>
                <a:latin typeface="inter-regular"/>
              </a:rPr>
              <a:t>Database_Name</a:t>
            </a:r>
            <a:r>
              <a:rPr lang="en-IN" sz="3400" dirty="0">
                <a:solidFill>
                  <a:srgbClr val="000000"/>
                </a:solidFill>
                <a:latin typeface="inter-regular"/>
              </a:rPr>
              <a:t>;  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2600" dirty="0">
              <a:solidFill>
                <a:srgbClr val="000000"/>
              </a:solidFill>
              <a:latin typeface="inter-regular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2600" dirty="0">
              <a:solidFill>
                <a:srgbClr val="000000"/>
              </a:solidFill>
              <a:latin typeface="inter-regular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3600" b="1" dirty="0">
                <a:solidFill>
                  <a:srgbClr val="006699"/>
                </a:solidFill>
                <a:latin typeface="inter-regular"/>
              </a:rPr>
              <a:t>          </a:t>
            </a:r>
            <a:r>
              <a:rPr lang="en-IN" sz="3400" b="1" dirty="0">
                <a:solidFill>
                  <a:srgbClr val="006699"/>
                </a:solidFill>
                <a:latin typeface="inter-regular"/>
              </a:rPr>
              <a:t>CREATE</a:t>
            </a:r>
            <a:r>
              <a:rPr lang="en-IN" sz="3400" dirty="0">
                <a:solidFill>
                  <a:srgbClr val="000000"/>
                </a:solidFill>
                <a:latin typeface="inter-regular"/>
              </a:rPr>
              <a:t> </a:t>
            </a:r>
            <a:r>
              <a:rPr lang="en-IN" sz="3400" b="1" dirty="0">
                <a:solidFill>
                  <a:srgbClr val="006699"/>
                </a:solidFill>
                <a:latin typeface="inter-regular"/>
              </a:rPr>
              <a:t>DATABASE</a:t>
            </a:r>
            <a:r>
              <a:rPr lang="en-IN" sz="3400" dirty="0">
                <a:solidFill>
                  <a:srgbClr val="000000"/>
                </a:solidFill>
                <a:latin typeface="inter-regular"/>
              </a:rPr>
              <a:t>  </a:t>
            </a:r>
            <a:r>
              <a:rPr lang="en-IN" sz="3400" b="1" dirty="0" err="1">
                <a:solidFill>
                  <a:srgbClr val="000000"/>
                </a:solidFill>
                <a:latin typeface="inter-regular"/>
              </a:rPr>
              <a:t>secstudentdb</a:t>
            </a:r>
            <a:r>
              <a:rPr lang="en-IN" sz="3400" dirty="0">
                <a:solidFill>
                  <a:srgbClr val="000000"/>
                </a:solidFill>
                <a:latin typeface="inter-regular"/>
              </a:rPr>
              <a:t>; 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3400" dirty="0"/>
              <a:t>            </a:t>
            </a:r>
            <a:r>
              <a:rPr lang="en-IN" sz="3400" b="1" dirty="0">
                <a:solidFill>
                  <a:srgbClr val="000000"/>
                </a:solidFill>
                <a:latin typeface="inter-regular"/>
              </a:rPr>
              <a:t>SHOW</a:t>
            </a:r>
            <a:r>
              <a:rPr lang="en-IN" sz="3400" dirty="0">
                <a:solidFill>
                  <a:srgbClr val="000000"/>
                </a:solidFill>
                <a:latin typeface="inter-regular"/>
              </a:rPr>
              <a:t> </a:t>
            </a:r>
            <a:r>
              <a:rPr lang="en-IN" sz="3400" b="1" dirty="0">
                <a:solidFill>
                  <a:srgbClr val="006699"/>
                </a:solidFill>
                <a:latin typeface="inter-regular"/>
              </a:rPr>
              <a:t>DATABASES</a:t>
            </a:r>
            <a:r>
              <a:rPr lang="en-IN" sz="3400" dirty="0">
                <a:solidFill>
                  <a:srgbClr val="000000"/>
                </a:solidFill>
                <a:latin typeface="inter-regular"/>
              </a:rPr>
              <a:t> </a:t>
            </a:r>
            <a:r>
              <a:rPr lang="en-IN" sz="2000" dirty="0">
                <a:solidFill>
                  <a:srgbClr val="000000"/>
                </a:solidFill>
                <a:latin typeface="inter-regular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3600" dirty="0">
                <a:solidFill>
                  <a:srgbClr val="000000"/>
                </a:solidFill>
                <a:latin typeface="inter-regular"/>
              </a:rPr>
              <a:t> </a:t>
            </a:r>
            <a:r>
              <a:rPr lang="en-IN" sz="2600" dirty="0">
                <a:solidFill>
                  <a:srgbClr val="000000"/>
                </a:solidFill>
                <a:latin typeface="inter-regular"/>
              </a:rPr>
              <a:t> 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800" dirty="0"/>
              <a:t>      </a:t>
            </a:r>
            <a:endParaRPr lang="en-IN" sz="2000" dirty="0">
              <a:solidFill>
                <a:srgbClr val="610B38"/>
              </a:solidFill>
              <a:latin typeface="erdan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1800" dirty="0"/>
              <a:t>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7B4FBF-E8CD-C1EE-FAB5-5827FD607729}"/>
              </a:ext>
            </a:extLst>
          </p:cNvPr>
          <p:cNvSpPr txBox="1"/>
          <p:nvPr/>
        </p:nvSpPr>
        <p:spPr>
          <a:xfrm>
            <a:off x="809875" y="919313"/>
            <a:ext cx="6248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0" i="0" dirty="0">
                <a:effectLst/>
                <a:latin typeface="erdana"/>
              </a:rPr>
              <a:t>SQL </a:t>
            </a:r>
            <a:r>
              <a:rPr lang="en-IN" sz="2800" b="1" i="0" dirty="0">
                <a:effectLst/>
                <a:latin typeface="erdana"/>
              </a:rPr>
              <a:t>Create/Drop Database</a:t>
            </a:r>
            <a:br>
              <a:rPr lang="en-IN" sz="2800" b="0" i="0" dirty="0">
                <a:effectLst/>
                <a:latin typeface="erdana"/>
              </a:rPr>
            </a:b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7B178D-6425-E994-B5A6-1EF7B9584600}"/>
              </a:ext>
            </a:extLst>
          </p:cNvPr>
          <p:cNvSpPr txBox="1"/>
          <p:nvPr/>
        </p:nvSpPr>
        <p:spPr>
          <a:xfrm>
            <a:off x="1363837" y="5499495"/>
            <a:ext cx="61604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C00000"/>
                </a:solidFill>
                <a:effectLst/>
                <a:latin typeface="Segoe UI" panose="020B0502040204020203" pitchFamily="34" charset="0"/>
              </a:rPr>
              <a:t>DROP DATABASE  </a:t>
            </a:r>
          </a:p>
          <a:p>
            <a:endParaRPr lang="en-IN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>
              <a:buNone/>
            </a:pPr>
            <a:r>
              <a:rPr lang="en-IN" sz="2000" dirty="0"/>
              <a:t>        </a:t>
            </a:r>
            <a:r>
              <a:rPr lang="en-IN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DROP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DATABASE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000" dirty="0">
                <a:solidFill>
                  <a:srgbClr val="000000"/>
                </a:solidFill>
                <a:latin typeface="inter-regular"/>
              </a:rPr>
              <a:t> </a:t>
            </a:r>
            <a:r>
              <a:rPr lang="en-IN" sz="2000" dirty="0" err="1">
                <a:solidFill>
                  <a:srgbClr val="000000"/>
                </a:solidFill>
                <a:latin typeface="inter-regular"/>
              </a:rPr>
              <a:t>nsnstudentdb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43EBB2-3704-93FB-FCE4-6A530FAE1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044" y="3864905"/>
            <a:ext cx="5564956" cy="15141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1E32AD-BF85-36BF-C55A-F70A9211D7DF}"/>
              </a:ext>
            </a:extLst>
          </p:cNvPr>
          <p:cNvSpPr txBox="1"/>
          <p:nvPr/>
        </p:nvSpPr>
        <p:spPr>
          <a:xfrm>
            <a:off x="421663" y="117266"/>
            <a:ext cx="10657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0" i="0" dirty="0">
                <a:solidFill>
                  <a:schemeClr val="bg1"/>
                </a:solidFill>
                <a:effectLst/>
                <a:latin typeface="erdana"/>
              </a:rPr>
              <a:t> </a:t>
            </a:r>
            <a:r>
              <a:rPr lang="en-IN" sz="3600" b="0" i="0" dirty="0" err="1">
                <a:solidFill>
                  <a:schemeClr val="bg1"/>
                </a:solidFill>
                <a:effectLst/>
                <a:latin typeface="erdana"/>
              </a:rPr>
              <a:t>Mysql</a:t>
            </a:r>
            <a:r>
              <a:rPr lang="en-IN" sz="3600" b="0" i="0" dirty="0">
                <a:solidFill>
                  <a:schemeClr val="bg1"/>
                </a:solidFill>
                <a:effectLst/>
                <a:latin typeface="erdana"/>
              </a:rPr>
              <a:t> Database Create / drop 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4307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8EE9A-55E3-4D2B-8C81-835E317AA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343" y="226243"/>
            <a:ext cx="10901313" cy="623111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-- Create table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CREATE TABLE courses (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course_id</a:t>
            </a:r>
            <a:r>
              <a:rPr lang="en-IN" dirty="0"/>
              <a:t> INT ,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course_name</a:t>
            </a:r>
            <a:r>
              <a:rPr lang="en-IN" dirty="0"/>
              <a:t> VARCHAR(20)</a:t>
            </a:r>
          </a:p>
          <a:p>
            <a:pPr marL="0" indent="0">
              <a:buNone/>
            </a:pPr>
            <a:r>
              <a:rPr lang="en-IN" dirty="0"/>
              <a:t>);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-- Alter table: Add column</a:t>
            </a:r>
          </a:p>
          <a:p>
            <a:pPr marL="0" indent="0">
              <a:buNone/>
            </a:pPr>
            <a:r>
              <a:rPr lang="en-IN" dirty="0"/>
              <a:t>ALTER TABLE courses </a:t>
            </a:r>
            <a:r>
              <a:rPr lang="en-IN" b="1" dirty="0">
                <a:solidFill>
                  <a:srgbClr val="C00000"/>
                </a:solidFill>
              </a:rPr>
              <a:t>ADD</a:t>
            </a:r>
            <a:r>
              <a:rPr lang="en-IN" dirty="0"/>
              <a:t> </a:t>
            </a:r>
            <a:r>
              <a:rPr lang="en-IN" dirty="0" err="1"/>
              <a:t>course_duration</a:t>
            </a:r>
            <a:r>
              <a:rPr lang="en-IN" dirty="0"/>
              <a:t> INT;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-- Alter table: Modify column</a:t>
            </a:r>
          </a:p>
          <a:p>
            <a:pPr marL="0" indent="0">
              <a:buNone/>
            </a:pPr>
            <a:r>
              <a:rPr lang="en-IN" dirty="0"/>
              <a:t>ALTER TABLE courses </a:t>
            </a:r>
            <a:r>
              <a:rPr lang="en-IN" b="1" dirty="0">
                <a:solidFill>
                  <a:srgbClr val="C00000"/>
                </a:solidFill>
              </a:rPr>
              <a:t>MODIFY</a:t>
            </a:r>
            <a:r>
              <a:rPr lang="en-IN" dirty="0"/>
              <a:t> </a:t>
            </a:r>
            <a:r>
              <a:rPr lang="en-IN" dirty="0" err="1"/>
              <a:t>course_name</a:t>
            </a:r>
            <a:r>
              <a:rPr lang="en-IN" dirty="0"/>
              <a:t> VARCHAR(30);</a:t>
            </a:r>
          </a:p>
          <a:p>
            <a:endParaRPr lang="en-IN" b="1" dirty="0"/>
          </a:p>
          <a:p>
            <a:pPr marL="0" indent="0">
              <a:buNone/>
            </a:pPr>
            <a:r>
              <a:rPr lang="en-IN" b="1" dirty="0"/>
              <a:t>-- Drop table (delete table structure and data)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DROP</a:t>
            </a:r>
            <a:r>
              <a:rPr lang="en-IN" dirty="0"/>
              <a:t> TABLE courses;</a:t>
            </a:r>
          </a:p>
          <a:p>
            <a:endParaRPr lang="en-IN" b="1" dirty="0"/>
          </a:p>
          <a:p>
            <a:pPr marL="0" indent="0">
              <a:buNone/>
            </a:pPr>
            <a:r>
              <a:rPr lang="en-IN" b="1" dirty="0"/>
              <a:t>-- Truncate table (delete only data, not structure)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TRUNCATE</a:t>
            </a:r>
            <a:r>
              <a:rPr lang="en-IN" dirty="0"/>
              <a:t> TABLE students;</a:t>
            </a:r>
          </a:p>
        </p:txBody>
      </p:sp>
    </p:spTree>
    <p:extLst>
      <p:ext uri="{BB962C8B-B14F-4D97-AF65-F5344CB8AC3E}">
        <p14:creationId xmlns:p14="http://schemas.microsoft.com/office/powerpoint/2010/main" val="1215002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1BD1-9850-4F72-81BE-F13D1744F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2.DML – Data Manipulation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F7610-78EF-DFFF-8B52-F631ED0A5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16" y="1825625"/>
            <a:ext cx="1183064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 DML commands are used to manipulate data stored in the database (within tables).</a:t>
            </a:r>
          </a:p>
          <a:p>
            <a:endParaRPr lang="en-US" dirty="0"/>
          </a:p>
          <a:p>
            <a:r>
              <a:rPr lang="en-US" dirty="0"/>
              <a:t>Common DML Commands:</a:t>
            </a:r>
          </a:p>
          <a:p>
            <a:r>
              <a:rPr lang="en-US" dirty="0"/>
              <a:t>INSERT</a:t>
            </a:r>
          </a:p>
          <a:p>
            <a:endParaRPr lang="en-US" dirty="0"/>
          </a:p>
          <a:p>
            <a:r>
              <a:rPr lang="en-US" dirty="0"/>
              <a:t>UPDATE</a:t>
            </a:r>
          </a:p>
          <a:p>
            <a:endParaRPr lang="en-US" dirty="0"/>
          </a:p>
          <a:p>
            <a:r>
              <a:rPr lang="en-US" dirty="0"/>
              <a:t>DELETE</a:t>
            </a:r>
          </a:p>
          <a:p>
            <a:endParaRPr lang="en-US" dirty="0"/>
          </a:p>
          <a:p>
            <a:r>
              <a:rPr lang="en-US" dirty="0"/>
              <a:t>SELECT (Though technically a query, not modifying data)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9969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676F2F-0249-795D-BD25-0BBA6D9A95AD}"/>
              </a:ext>
            </a:extLst>
          </p:cNvPr>
          <p:cNvSpPr txBox="1">
            <a:spLocks/>
          </p:cNvSpPr>
          <p:nvPr/>
        </p:nvSpPr>
        <p:spPr>
          <a:xfrm>
            <a:off x="1349603" y="1223128"/>
            <a:ext cx="10075683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333333"/>
                </a:solidFill>
                <a:latin typeface="inter-regular"/>
              </a:rPr>
              <a:t> </a:t>
            </a:r>
            <a:r>
              <a:rPr lang="en-US" sz="2400" b="1" dirty="0">
                <a:solidFill>
                  <a:srgbClr val="92275C"/>
                </a:solidFill>
                <a:latin typeface="inter-bold"/>
              </a:rPr>
              <a:t>SQL Table variable</a:t>
            </a:r>
            <a:r>
              <a:rPr lang="en-US" sz="2400" dirty="0">
                <a:solidFill>
                  <a:srgbClr val="92275C"/>
                </a:solidFill>
                <a:latin typeface="inter-regular"/>
              </a:rPr>
              <a:t> </a:t>
            </a:r>
            <a:r>
              <a:rPr lang="en-US" sz="2400" dirty="0">
                <a:solidFill>
                  <a:srgbClr val="333333"/>
                </a:solidFill>
                <a:latin typeface="inter-regular"/>
              </a:rPr>
              <a:t>is used to create, modify, </a:t>
            </a:r>
            <a:r>
              <a:rPr lang="en-US" sz="2400" dirty="0" err="1">
                <a:solidFill>
                  <a:srgbClr val="333333"/>
                </a:solidFill>
                <a:latin typeface="inter-regular"/>
              </a:rPr>
              <a:t>rename,delete</a:t>
            </a:r>
            <a:r>
              <a:rPr lang="en-US" sz="2400" dirty="0">
                <a:solidFill>
                  <a:srgbClr val="333333"/>
                </a:solidFill>
                <a:latin typeface="inter-regular"/>
              </a:rPr>
              <a:t> tables. </a:t>
            </a:r>
          </a:p>
          <a:p>
            <a:pPr algn="just"/>
            <a:r>
              <a:rPr lang="en-US" sz="2400" dirty="0">
                <a:solidFill>
                  <a:srgbClr val="333333"/>
                </a:solidFill>
                <a:latin typeface="inter-regular"/>
              </a:rPr>
              <a:t>Table variables are used to store a set of records. So declaration syntax generally looks like </a:t>
            </a:r>
            <a:r>
              <a:rPr lang="en-US" sz="2400" dirty="0">
                <a:solidFill>
                  <a:srgbClr val="C00000"/>
                </a:solidFill>
                <a:latin typeface="inter-regular"/>
              </a:rPr>
              <a:t>CREATE TABLE syntax</a:t>
            </a:r>
            <a:r>
              <a:rPr lang="en-US" sz="2400" dirty="0">
                <a:solidFill>
                  <a:srgbClr val="333333"/>
                </a:solidFill>
                <a:latin typeface="inter-regular"/>
              </a:rPr>
              <a:t>.</a:t>
            </a:r>
          </a:p>
          <a:p>
            <a:pPr algn="just"/>
            <a:endParaRPr lang="en-US" sz="2400" dirty="0">
              <a:solidFill>
                <a:srgbClr val="333333"/>
              </a:solidFill>
              <a:latin typeface="inter-regular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2600" b="1" dirty="0">
                <a:solidFill>
                  <a:srgbClr val="006699"/>
                </a:solidFill>
                <a:latin typeface="inter-regular"/>
              </a:rPr>
              <a:t>create</a:t>
            </a:r>
            <a:r>
              <a:rPr lang="en-US" sz="2600" dirty="0">
                <a:solidFill>
                  <a:srgbClr val="000000"/>
                </a:solidFill>
                <a:latin typeface="inter-regular"/>
              </a:rPr>
              <a:t> </a:t>
            </a:r>
            <a:r>
              <a:rPr lang="en-US" sz="2600" b="1" dirty="0">
                <a:solidFill>
                  <a:srgbClr val="006699"/>
                </a:solidFill>
                <a:latin typeface="inter-regular"/>
              </a:rPr>
              <a:t>table</a:t>
            </a:r>
            <a:r>
              <a:rPr lang="en-US" sz="2600" dirty="0">
                <a:solidFill>
                  <a:srgbClr val="000000"/>
                </a:solidFill>
                <a:latin typeface="inter-regular"/>
              </a:rPr>
              <a:t> </a:t>
            </a:r>
            <a:r>
              <a:rPr lang="en-US" sz="2600" dirty="0" err="1">
                <a:solidFill>
                  <a:srgbClr val="0000FF"/>
                </a:solidFill>
                <a:latin typeface="inter-regular"/>
              </a:rPr>
              <a:t>tablename</a:t>
            </a:r>
            <a:r>
              <a:rPr lang="en-US" sz="2600" dirty="0">
                <a:solidFill>
                  <a:srgbClr val="000000"/>
                </a:solidFill>
                <a:latin typeface="inter-regular"/>
              </a:rPr>
              <a:t>  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2600" dirty="0">
                <a:solidFill>
                  <a:srgbClr val="000000"/>
                </a:solidFill>
                <a:latin typeface="inter-regular"/>
              </a:rPr>
              <a:t>(</a:t>
            </a:r>
            <a:r>
              <a:rPr lang="en-US" sz="2600" dirty="0">
                <a:solidFill>
                  <a:srgbClr val="0000FF"/>
                </a:solidFill>
                <a:latin typeface="inter-regular"/>
              </a:rPr>
              <a:t>"column1"</a:t>
            </a:r>
            <a:r>
              <a:rPr lang="en-US" sz="2600" dirty="0">
                <a:solidFill>
                  <a:srgbClr val="000000"/>
                </a:solidFill>
                <a:latin typeface="inter-regular"/>
              </a:rPr>
              <a:t> </a:t>
            </a:r>
            <a:r>
              <a:rPr lang="en-US" sz="2600" dirty="0">
                <a:solidFill>
                  <a:srgbClr val="0000FF"/>
                </a:solidFill>
                <a:latin typeface="inter-regular"/>
              </a:rPr>
              <a:t>"data type"</a:t>
            </a:r>
            <a:r>
              <a:rPr lang="en-US" sz="2600" dirty="0">
                <a:solidFill>
                  <a:srgbClr val="000000"/>
                </a:solidFill>
                <a:latin typeface="inter-regular"/>
              </a:rPr>
              <a:t>,  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2600" dirty="0">
                <a:solidFill>
                  <a:srgbClr val="0000FF"/>
                </a:solidFill>
                <a:latin typeface="inter-regular"/>
              </a:rPr>
              <a:t>"column2"</a:t>
            </a:r>
            <a:r>
              <a:rPr lang="en-US" sz="2600" dirty="0">
                <a:solidFill>
                  <a:srgbClr val="000000"/>
                </a:solidFill>
                <a:latin typeface="inter-regular"/>
              </a:rPr>
              <a:t> </a:t>
            </a:r>
            <a:r>
              <a:rPr lang="en-US" sz="2600" dirty="0">
                <a:solidFill>
                  <a:srgbClr val="0000FF"/>
                </a:solidFill>
                <a:latin typeface="inter-regular"/>
              </a:rPr>
              <a:t>"data type"</a:t>
            </a:r>
            <a:r>
              <a:rPr lang="en-US" sz="2600" dirty="0">
                <a:solidFill>
                  <a:srgbClr val="000000"/>
                </a:solidFill>
                <a:latin typeface="inter-regular"/>
              </a:rPr>
              <a:t>,  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2600" dirty="0">
                <a:solidFill>
                  <a:srgbClr val="000000"/>
                </a:solidFill>
                <a:latin typeface="inter-regular"/>
              </a:rPr>
              <a:t>...  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2600" dirty="0">
                <a:solidFill>
                  <a:srgbClr val="0000FF"/>
                </a:solidFill>
                <a:latin typeface="inter-regular"/>
              </a:rPr>
              <a:t>"</a:t>
            </a:r>
            <a:r>
              <a:rPr lang="en-US" sz="2600" dirty="0" err="1">
                <a:solidFill>
                  <a:srgbClr val="0000FF"/>
                </a:solidFill>
                <a:latin typeface="inter-regular"/>
              </a:rPr>
              <a:t>columnN</a:t>
            </a:r>
            <a:r>
              <a:rPr lang="en-US" sz="2600" dirty="0">
                <a:solidFill>
                  <a:srgbClr val="0000FF"/>
                </a:solidFill>
                <a:latin typeface="inter-regular"/>
              </a:rPr>
              <a:t>"</a:t>
            </a:r>
            <a:r>
              <a:rPr lang="en-US" sz="2600" dirty="0">
                <a:solidFill>
                  <a:srgbClr val="000000"/>
                </a:solidFill>
                <a:latin typeface="inter-regular"/>
              </a:rPr>
              <a:t> </a:t>
            </a:r>
            <a:r>
              <a:rPr lang="en-US" sz="2600" dirty="0">
                <a:solidFill>
                  <a:srgbClr val="0000FF"/>
                </a:solidFill>
                <a:latin typeface="inter-regular"/>
              </a:rPr>
              <a:t>"data type"</a:t>
            </a:r>
            <a:r>
              <a:rPr lang="en-US" sz="2600" dirty="0">
                <a:solidFill>
                  <a:srgbClr val="000000"/>
                </a:solidFill>
                <a:latin typeface="inter-regular"/>
              </a:rPr>
              <a:t>);  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F4FE0-8629-4F5F-7AB2-8601A68CE013}"/>
              </a:ext>
            </a:extLst>
          </p:cNvPr>
          <p:cNvSpPr txBox="1"/>
          <p:nvPr/>
        </p:nvSpPr>
        <p:spPr>
          <a:xfrm>
            <a:off x="671289" y="228600"/>
            <a:ext cx="624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0" i="0" dirty="0">
                <a:solidFill>
                  <a:schemeClr val="bg1"/>
                </a:solidFill>
                <a:effectLst/>
                <a:latin typeface="erdana"/>
              </a:rPr>
              <a:t>SQL TABLE  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06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8A7A6-6331-EA10-202F-899F37E30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11" y="197963"/>
            <a:ext cx="11353800" cy="666003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-- Create a sample table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CREATE TABLE students (</a:t>
            </a:r>
          </a:p>
          <a:p>
            <a:pPr marL="0" indent="0">
              <a:buNone/>
            </a:pPr>
            <a:r>
              <a:rPr lang="en-IN" b="1" dirty="0"/>
              <a:t>  id INT  ,</a:t>
            </a:r>
          </a:p>
          <a:p>
            <a:pPr marL="0" indent="0">
              <a:buNone/>
            </a:pPr>
            <a:r>
              <a:rPr lang="en-IN" b="1" dirty="0"/>
              <a:t>  name VARCHAR(50),</a:t>
            </a:r>
          </a:p>
          <a:p>
            <a:pPr marL="0" indent="0">
              <a:buNone/>
            </a:pPr>
            <a:r>
              <a:rPr lang="en-IN" b="1" dirty="0"/>
              <a:t>  department VARCHAR(50)</a:t>
            </a:r>
          </a:p>
          <a:p>
            <a:pPr marL="0" indent="0">
              <a:buNone/>
            </a:pPr>
            <a:r>
              <a:rPr lang="en-IN" b="1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-- Insert data (INSERT)</a:t>
            </a:r>
          </a:p>
          <a:p>
            <a:pPr marL="0" indent="0">
              <a:buNone/>
            </a:pPr>
            <a:r>
              <a:rPr lang="en-IN" dirty="0"/>
              <a:t>INSERT INTO students (id, name, department) VALUES (1, 'Arun', 'CSE');</a:t>
            </a:r>
          </a:p>
          <a:p>
            <a:pPr marL="0" indent="0">
              <a:buNone/>
            </a:pPr>
            <a:r>
              <a:rPr lang="en-IN" dirty="0"/>
              <a:t>INSERT INTO students (id, name, department) VALUES (2, 'Divya', 'ECE');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-- Update data (UPDATE)</a:t>
            </a:r>
          </a:p>
          <a:p>
            <a:pPr marL="0" indent="0">
              <a:buNone/>
            </a:pPr>
            <a:r>
              <a:rPr lang="en-IN" dirty="0"/>
              <a:t>UPDATE students SET department = 'IT' WHERE name = 'Divya';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-- Delete data (DELETE)</a:t>
            </a:r>
          </a:p>
          <a:p>
            <a:pPr marL="0" indent="0">
              <a:buNone/>
            </a:pPr>
            <a:r>
              <a:rPr lang="en-IN" dirty="0"/>
              <a:t>DELETE FROM students WHERE id = 1;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-- Select data (SELECT)</a:t>
            </a:r>
          </a:p>
          <a:p>
            <a:pPr marL="0" indent="0">
              <a:buNone/>
            </a:pPr>
            <a:r>
              <a:rPr lang="en-IN" dirty="0"/>
              <a:t>SELECT * FROM students;</a:t>
            </a:r>
          </a:p>
        </p:txBody>
      </p:sp>
    </p:spTree>
    <p:extLst>
      <p:ext uri="{BB962C8B-B14F-4D97-AF65-F5344CB8AC3E}">
        <p14:creationId xmlns:p14="http://schemas.microsoft.com/office/powerpoint/2010/main" val="1644271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BC29C-320A-6A1C-6D18-C28F496F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62" y="18255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Problem Statement</a:t>
            </a:r>
            <a:br>
              <a:rPr lang="en-US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447FD-BA05-CD04-6D4E-EEE2D8498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1812"/>
            <a:ext cx="1238053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Create a </a:t>
            </a:r>
            <a:r>
              <a:rPr lang="en-US" b="1" dirty="0"/>
              <a:t>MySQL database </a:t>
            </a:r>
            <a:r>
              <a:rPr lang="en-US" dirty="0"/>
              <a:t>and a </a:t>
            </a:r>
            <a:r>
              <a:rPr lang="en-US" b="1" dirty="0"/>
              <a:t>student table </a:t>
            </a:r>
            <a:r>
              <a:rPr lang="en-US" dirty="0"/>
              <a:t>to store student academic details.</a:t>
            </a:r>
          </a:p>
          <a:p>
            <a:endParaRPr lang="en-IN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C0265D1-C417-3676-C524-CDC951578E7B}"/>
              </a:ext>
            </a:extLst>
          </p:cNvPr>
          <p:cNvSpPr txBox="1"/>
          <p:nvPr/>
        </p:nvSpPr>
        <p:spPr>
          <a:xfrm>
            <a:off x="1524786" y="1564850"/>
            <a:ext cx="9210576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The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student</a:t>
            </a:r>
            <a:r>
              <a:rPr lang="en-US" sz="2400" b="1" dirty="0"/>
              <a:t> table should contain: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b="1" dirty="0" err="1">
                <a:latin typeface="Courier New" panose="02070309020205020404" pitchFamily="49" charset="0"/>
              </a:rPr>
              <a:t>StudentId</a:t>
            </a:r>
            <a:r>
              <a:rPr lang="en-US" b="1" dirty="0"/>
              <a:t>  - int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ourier New" panose="02070309020205020404" pitchFamily="49" charset="0"/>
              </a:rPr>
              <a:t>FirstName</a:t>
            </a:r>
            <a:r>
              <a:rPr lang="en-US" b="1" dirty="0"/>
              <a:t>  - varchar(20)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ourier New" panose="02070309020205020404" pitchFamily="49" charset="0"/>
              </a:rPr>
              <a:t>Address</a:t>
            </a:r>
            <a:r>
              <a:rPr lang="en-US" b="1" dirty="0"/>
              <a:t> – varchar(20)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ourier New" panose="02070309020205020404" pitchFamily="49" charset="0"/>
              </a:rPr>
              <a:t>Age</a:t>
            </a:r>
            <a:r>
              <a:rPr lang="en-US" b="1" dirty="0"/>
              <a:t>   - int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ourier New" panose="02070309020205020404" pitchFamily="49" charset="0"/>
              </a:rPr>
              <a:t>Percentage</a:t>
            </a:r>
            <a:r>
              <a:rPr lang="en-US" b="1" dirty="0"/>
              <a:t>  -int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ourier New" panose="02070309020205020404" pitchFamily="49" charset="0"/>
              </a:rPr>
              <a:t>Grade</a:t>
            </a:r>
            <a:r>
              <a:rPr lang="en-US" b="1" dirty="0"/>
              <a:t> – varchar(20)</a:t>
            </a:r>
          </a:p>
          <a:p>
            <a:pPr>
              <a:buNone/>
            </a:pPr>
            <a:r>
              <a:rPr lang="en-US" sz="2000" b="1" dirty="0"/>
              <a:t>Perform the following operations: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Create a database as </a:t>
            </a:r>
            <a:r>
              <a:rPr lang="en-US" sz="2000" dirty="0" err="1">
                <a:solidFill>
                  <a:srgbClr val="FF0000"/>
                </a:solidFill>
              </a:rPr>
              <a:t>CollegeDB</a:t>
            </a:r>
            <a:endParaRPr lang="en-US" sz="2000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000" dirty="0"/>
              <a:t>Create the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studenttb</a:t>
            </a:r>
            <a:r>
              <a:rPr lang="en-US" sz="2000" dirty="0"/>
              <a:t> table using </a:t>
            </a:r>
            <a:r>
              <a:rPr lang="en-US" sz="2000" b="1" dirty="0"/>
              <a:t>DDL</a:t>
            </a:r>
            <a:r>
              <a:rPr lang="en-US" sz="2000" dirty="0"/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Insert student records using </a:t>
            </a:r>
            <a:r>
              <a:rPr lang="en-US" sz="2000" b="1" dirty="0"/>
              <a:t>DML</a:t>
            </a:r>
            <a:r>
              <a:rPr lang="en-US" sz="2000" dirty="0"/>
              <a:t>. 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Display all student records. 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Update a student's percentage and grade. 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Delete a student record. 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Add a new column using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ALTER TABLE Department varchar(20)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Display the final student table.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Drop table </a:t>
            </a:r>
            <a:r>
              <a:rPr lang="en-US" sz="2000" dirty="0" err="1"/>
              <a:t>Studenttb</a:t>
            </a:r>
            <a:r>
              <a:rPr lang="en-US" sz="2000" dirty="0"/>
              <a:t> table and </a:t>
            </a:r>
            <a:r>
              <a:rPr lang="en-US" sz="2000" dirty="0" err="1"/>
              <a:t>CollegeDB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83039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8D32B-4727-7B67-0A57-E1BB283B6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Sample Input &amp; Output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2AE1FE-BB4B-7AE2-6032-350B6C369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194921"/>
              </p:ext>
            </p:extLst>
          </p:nvPr>
        </p:nvGraphicFramePr>
        <p:xfrm>
          <a:off x="681680" y="1203960"/>
          <a:ext cx="9376722" cy="2225040"/>
        </p:xfrm>
        <a:graphic>
          <a:graphicData uri="http://schemas.openxmlformats.org/drawingml/2006/table">
            <a:tbl>
              <a:tblPr/>
              <a:tblGrid>
                <a:gridCol w="1562787">
                  <a:extLst>
                    <a:ext uri="{9D8B030D-6E8A-4147-A177-3AD203B41FA5}">
                      <a16:colId xmlns:a16="http://schemas.microsoft.com/office/drawing/2014/main" val="3986341394"/>
                    </a:ext>
                  </a:extLst>
                </a:gridCol>
                <a:gridCol w="1562787">
                  <a:extLst>
                    <a:ext uri="{9D8B030D-6E8A-4147-A177-3AD203B41FA5}">
                      <a16:colId xmlns:a16="http://schemas.microsoft.com/office/drawing/2014/main" val="995339777"/>
                    </a:ext>
                  </a:extLst>
                </a:gridCol>
                <a:gridCol w="1562787">
                  <a:extLst>
                    <a:ext uri="{9D8B030D-6E8A-4147-A177-3AD203B41FA5}">
                      <a16:colId xmlns:a16="http://schemas.microsoft.com/office/drawing/2014/main" val="2441674464"/>
                    </a:ext>
                  </a:extLst>
                </a:gridCol>
                <a:gridCol w="1562787">
                  <a:extLst>
                    <a:ext uri="{9D8B030D-6E8A-4147-A177-3AD203B41FA5}">
                      <a16:colId xmlns:a16="http://schemas.microsoft.com/office/drawing/2014/main" val="2616663296"/>
                    </a:ext>
                  </a:extLst>
                </a:gridCol>
                <a:gridCol w="1562787">
                  <a:extLst>
                    <a:ext uri="{9D8B030D-6E8A-4147-A177-3AD203B41FA5}">
                      <a16:colId xmlns:a16="http://schemas.microsoft.com/office/drawing/2014/main" val="3396872635"/>
                    </a:ext>
                  </a:extLst>
                </a:gridCol>
                <a:gridCol w="1562787">
                  <a:extLst>
                    <a:ext uri="{9D8B030D-6E8A-4147-A177-3AD203B41FA5}">
                      <a16:colId xmlns:a16="http://schemas.microsoft.com/office/drawing/2014/main" val="465154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 err="1"/>
                        <a:t>StudentId</a:t>
                      </a:r>
                      <a:endParaRPr lang="en-IN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FirstName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Address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Percentage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977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Chennai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980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Madurai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249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Kavin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Salem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58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Divya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Coimbatore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303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Rahul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Trichy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33052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2D6EBC6-F2D0-FE36-1BF9-95AA7B9A7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234103"/>
              </p:ext>
            </p:extLst>
          </p:nvPr>
        </p:nvGraphicFramePr>
        <p:xfrm>
          <a:off x="370592" y="4016377"/>
          <a:ext cx="10515603" cy="2225040"/>
        </p:xfrm>
        <a:graphic>
          <a:graphicData uri="http://schemas.openxmlformats.org/drawingml/2006/table">
            <a:tbl>
              <a:tblPr/>
              <a:tblGrid>
                <a:gridCol w="1502229">
                  <a:extLst>
                    <a:ext uri="{9D8B030D-6E8A-4147-A177-3AD203B41FA5}">
                      <a16:colId xmlns:a16="http://schemas.microsoft.com/office/drawing/2014/main" val="376873719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8239275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34433645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48166305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48944206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71865619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299873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 err="1"/>
                        <a:t>StudentId</a:t>
                      </a:r>
                      <a:endParaRPr lang="en-IN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FirstName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Address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Percentage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rgbClr val="C00000"/>
                          </a:solidFill>
                        </a:rPr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49686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Arun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Bangalore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solidFill>
                            <a:srgbClr val="C00000"/>
                          </a:solidFill>
                        </a:rPr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193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Priya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Madurai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A+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>
                          <a:solidFill>
                            <a:srgbClr val="C00000"/>
                          </a:solidFill>
                        </a:rPr>
                        <a:t>ECE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8885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103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Kavin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Salem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solidFill>
                            <a:srgbClr val="C00000"/>
                          </a:solidFill>
                        </a:rPr>
                        <a:t>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691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Divya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Coimbatore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solidFill>
                            <a:srgbClr val="C00000"/>
                          </a:solidFill>
                        </a:rPr>
                        <a:t>AIML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2915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106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Meena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Erode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solidFill>
                            <a:srgbClr val="C00000"/>
                          </a:solidFill>
                        </a:rPr>
                        <a:t>CSE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672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553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6B3AD-67DE-64A0-65B4-24D78AD61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Test Cases – Student Table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F1221A-4655-7DEE-E5B6-D34C537AB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01" y="1276163"/>
            <a:ext cx="10869105" cy="511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79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CCC2A-BA56-2FB0-0610-D81BF8295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1864A-D3F9-51EB-0EB0-8BF718964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E4017D-795E-4AAB-6D98-51547CB95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3" y="-1"/>
            <a:ext cx="11487913" cy="594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57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590-40A6-0B31-AF5B-0C44FFFC6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018115-C68B-4D18-5900-7243504AB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25" y="105960"/>
            <a:ext cx="11412549" cy="577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7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897E2-BDED-9514-60B2-FD92972DF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9974E-70A2-1A6A-F383-B278877A3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765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2A4C9-754E-A9F9-56BE-7DA1CE25A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  SQL Table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8049F-8B1E-2BCA-02C7-D52EB2402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212" y="1253331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CREATE TABLE student   </a:t>
            </a:r>
          </a:p>
          <a:p>
            <a:pPr marL="0" indent="0">
              <a:buNone/>
            </a:pPr>
            <a:r>
              <a:rPr lang="en-US" dirty="0"/>
              <a:t>(  </a:t>
            </a:r>
          </a:p>
          <a:p>
            <a:pPr marL="0" indent="0">
              <a:buNone/>
            </a:pPr>
            <a:r>
              <a:rPr lang="en-US" dirty="0" err="1"/>
              <a:t>StudentId</a:t>
            </a:r>
            <a:r>
              <a:rPr lang="en-US" dirty="0"/>
              <a:t> Int,    </a:t>
            </a:r>
          </a:p>
          <a:p>
            <a:pPr marL="0" indent="0">
              <a:buNone/>
            </a:pPr>
            <a:r>
              <a:rPr lang="en-US" dirty="0"/>
              <a:t>FirstName VARCHAR (20),    </a:t>
            </a:r>
          </a:p>
          <a:p>
            <a:pPr marL="0" indent="0">
              <a:buNone/>
            </a:pPr>
            <a:r>
              <a:rPr lang="en-US" dirty="0"/>
              <a:t>Address VARCHAR (20),    </a:t>
            </a:r>
          </a:p>
          <a:p>
            <a:pPr marL="0" indent="0">
              <a:buNone/>
            </a:pPr>
            <a:r>
              <a:rPr lang="en-US" dirty="0"/>
              <a:t>Age Int,  </a:t>
            </a:r>
          </a:p>
          <a:p>
            <a:pPr marL="0" indent="0">
              <a:buNone/>
            </a:pPr>
            <a:r>
              <a:rPr lang="en-US" dirty="0"/>
              <a:t>Percentage Int,  </a:t>
            </a:r>
          </a:p>
          <a:p>
            <a:pPr marL="0" indent="0">
              <a:buNone/>
            </a:pPr>
            <a:r>
              <a:rPr lang="en-US" dirty="0"/>
              <a:t>Grade VARCHAR (10)   </a:t>
            </a:r>
          </a:p>
          <a:p>
            <a:pPr marL="0" indent="0">
              <a:buNone/>
            </a:pPr>
            <a:r>
              <a:rPr lang="en-US" dirty="0"/>
              <a:t>) ;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BA1880-F1B0-5C35-0BA3-DE46118B9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377" y="1525340"/>
            <a:ext cx="4791744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909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C59D9-63F6-3633-C856-04DD4FAA0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Describe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15AEA1-D607-914B-03F3-5DBAB11FE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26" y="1288576"/>
            <a:ext cx="8664810" cy="31134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A0675E-B54E-4ED3-D97B-54FF50AD143B}"/>
              </a:ext>
            </a:extLst>
          </p:cNvPr>
          <p:cNvSpPr txBox="1"/>
          <p:nvPr/>
        </p:nvSpPr>
        <p:spPr>
          <a:xfrm>
            <a:off x="1260834" y="5870245"/>
            <a:ext cx="7392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UPDATE student SET Department = 'CSE' WHERE </a:t>
            </a:r>
            <a:r>
              <a:rPr lang="en-US" dirty="0" err="1"/>
              <a:t>StudentId</a:t>
            </a:r>
            <a:r>
              <a:rPr lang="en-US" dirty="0"/>
              <a:t> = 101;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002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C9631-54FB-A14C-09D1-71488CDE7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471" y="864090"/>
            <a:ext cx="10515600" cy="53387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>
                <a:solidFill>
                  <a:srgbClr val="C00000"/>
                </a:solidFill>
              </a:rPr>
              <a:t>insert Single Record into Student table:</a:t>
            </a:r>
          </a:p>
          <a:p>
            <a:pPr marL="0" indent="0">
              <a:buNone/>
            </a:pPr>
            <a:r>
              <a:rPr lang="en-IN" sz="2200" dirty="0"/>
              <a:t>INSERT INTO student VALUES (201, 'Akash',' Delhi', 18, 89, 'A2');</a:t>
            </a:r>
          </a:p>
          <a:p>
            <a:endParaRPr lang="en-IN" sz="1700" dirty="0"/>
          </a:p>
          <a:p>
            <a:endParaRPr lang="en-IN" sz="1700" dirty="0"/>
          </a:p>
          <a:p>
            <a:pPr marL="0" indent="0">
              <a:buNone/>
            </a:pPr>
            <a:endParaRPr lang="en-IN" sz="26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IN" sz="2600" dirty="0">
                <a:solidFill>
                  <a:srgbClr val="C00000"/>
                </a:solidFill>
              </a:rPr>
              <a:t>insert multiple record at a time in Student table:</a:t>
            </a:r>
          </a:p>
          <a:p>
            <a:pPr marL="0" indent="0">
              <a:buNone/>
            </a:pPr>
            <a:r>
              <a:rPr lang="en-IN" dirty="0"/>
              <a:t>	  </a:t>
            </a:r>
            <a:r>
              <a:rPr lang="en-IN" sz="1800" dirty="0"/>
              <a:t>INSERT INTO student VALUES  (202, 'Bhavesh', 'Kanpur', 19, 93, 'A1'),  </a:t>
            </a:r>
          </a:p>
          <a:p>
            <a:pPr marL="0" indent="0">
              <a:buNone/>
            </a:pPr>
            <a:r>
              <a:rPr lang="en-IN" sz="1800" dirty="0"/>
              <a:t>		            (203, 'Yash',' Delhi', 20, 89, 'A2'),    </a:t>
            </a:r>
          </a:p>
          <a:p>
            <a:pPr marL="0" indent="0">
              <a:buNone/>
            </a:pPr>
            <a:r>
              <a:rPr lang="en-IN" sz="1800" dirty="0"/>
              <a:t>		            (204, 'Bhavna', 'Delhi', 19, 78, 'B1'),  </a:t>
            </a:r>
          </a:p>
          <a:p>
            <a:pPr marL="0" indent="0">
              <a:buNone/>
            </a:pPr>
            <a:r>
              <a:rPr lang="en-IN" sz="1800" dirty="0"/>
              <a:t>		            (205, 'Yatin', 'Lucknow', 20, 75,' B1'),  </a:t>
            </a:r>
          </a:p>
          <a:p>
            <a:pPr marL="0" indent="0">
              <a:buNone/>
            </a:pPr>
            <a:r>
              <a:rPr lang="en-IN" sz="1800" dirty="0"/>
              <a:t>		            (206, 'Ishika', 'Ghaziabad', 19, 51, 'C1'),  </a:t>
            </a:r>
          </a:p>
          <a:p>
            <a:pPr marL="0" indent="0">
              <a:buNone/>
            </a:pPr>
            <a:r>
              <a:rPr lang="en-IN" sz="1800" dirty="0"/>
              <a:t>		            (207, 'Vivek', 'Goa', 20, 62,' B2');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F025B5-32C6-55D9-186D-DD27E2E98013}"/>
              </a:ext>
            </a:extLst>
          </p:cNvPr>
          <p:cNvSpPr txBox="1"/>
          <p:nvPr/>
        </p:nvSpPr>
        <p:spPr>
          <a:xfrm>
            <a:off x="666946" y="93423"/>
            <a:ext cx="61604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3600" dirty="0">
                <a:solidFill>
                  <a:schemeClr val="bg1"/>
                </a:solidFill>
              </a:rPr>
              <a:t> Insert data into table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C6E9EE-F00E-6755-A647-7447B5E36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883" y="1789717"/>
            <a:ext cx="8413294" cy="699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74F91C-CE02-21DD-99E3-7804C5F67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711" y="5783336"/>
            <a:ext cx="6542202" cy="108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056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421C7-CC83-CF90-B165-1F6F01F05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Select all record or data 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F04CD4-5C0A-CD45-E580-92E07591B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165" y="1395838"/>
            <a:ext cx="9061332" cy="35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400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EEAB0-ACB9-72DD-C48A-FA18EAF6A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Select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67A36-A2F0-AFBC-02BB-DAA806FCC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1191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rgbClr val="C00000"/>
                </a:solidFill>
              </a:rPr>
              <a:t>select particular record using where condition :</a:t>
            </a:r>
          </a:p>
          <a:p>
            <a:pPr marL="0" indent="0">
              <a:buNone/>
            </a:pPr>
            <a:endParaRPr lang="en-US" sz="36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dirty="0"/>
              <a:t>         select * from student where </a:t>
            </a:r>
            <a:r>
              <a:rPr lang="en-US" dirty="0" err="1"/>
              <a:t>studentId</a:t>
            </a:r>
            <a:r>
              <a:rPr lang="en-US" dirty="0"/>
              <a:t>=201;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624C89-E887-5CD5-0FE9-E08C39C1B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97" y="3294857"/>
            <a:ext cx="8297433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5419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AB90-2D57-2E67-BAF4-09F6BDA86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delete  particular record: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The DELETE statement is used to delete existing records in a table.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27AAA-7EF8-9AFC-38EB-32F121EB4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23" y="1477407"/>
            <a:ext cx="10515600" cy="4351338"/>
          </a:xfrm>
        </p:spPr>
        <p:txBody>
          <a:bodyPr/>
          <a:lstStyle/>
          <a:p>
            <a:endParaRPr lang="en-US" dirty="0"/>
          </a:p>
          <a:p>
            <a:r>
              <a:rPr lang="en-US" sz="2400" dirty="0"/>
              <a:t>delete from student where </a:t>
            </a:r>
            <a:r>
              <a:rPr lang="en-US" sz="2400" dirty="0" err="1"/>
              <a:t>studentId</a:t>
            </a:r>
            <a:r>
              <a:rPr lang="en-US" sz="2400" dirty="0"/>
              <a:t>=203;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1C046-D252-965F-A3B1-6F8935A8C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137" y="2359679"/>
            <a:ext cx="8142445" cy="36019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F6907A-BBEC-7BCE-1BA6-53727F33550B}"/>
              </a:ext>
            </a:extLst>
          </p:cNvPr>
          <p:cNvSpPr txBox="1"/>
          <p:nvPr/>
        </p:nvSpPr>
        <p:spPr>
          <a:xfrm>
            <a:off x="1062871" y="6094577"/>
            <a:ext cx="61604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delete all record:</a:t>
            </a:r>
          </a:p>
          <a:p>
            <a:r>
              <a:rPr lang="en-IN" sz="2400" dirty="0"/>
              <a:t>    delete * from student;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B21A17-4E87-8ADC-477C-BCAF71E13C97}"/>
              </a:ext>
            </a:extLst>
          </p:cNvPr>
          <p:cNvSpPr txBox="1"/>
          <p:nvPr/>
        </p:nvSpPr>
        <p:spPr>
          <a:xfrm>
            <a:off x="1668544" y="930127"/>
            <a:ext cx="5554743" cy="902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C00000"/>
                </a:solidFill>
                <a:effectLst/>
                <a:latin typeface="Segoe UI" panose="020B0502040204020203" pitchFamily="34" charset="0"/>
              </a:rPr>
              <a:t>DELETE Syntax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table_name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20188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96B95-3A0E-F950-E472-98C779F1C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update particular data from database: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F40EA-A85F-FC39-6F37-A90072E4C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250" y="11191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update student set FirstName='Jayaprakash' where </a:t>
            </a:r>
            <a:r>
              <a:rPr lang="en-US" b="1" dirty="0" err="1"/>
              <a:t>studentid</a:t>
            </a:r>
            <a:r>
              <a:rPr lang="en-US" b="1" dirty="0"/>
              <a:t>=202;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E33DBF-A96E-D673-7D67-32F02FBA6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150" y="1630837"/>
            <a:ext cx="8967744" cy="516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3033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1CCE9-BD6A-57BC-9D15-87FF8430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drop table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D8991-8D40-DF03-E6C3-6D965A14A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5527" y="186333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drop table student;</a:t>
            </a:r>
          </a:p>
        </p:txBody>
      </p:sp>
    </p:spTree>
    <p:extLst>
      <p:ext uri="{BB962C8B-B14F-4D97-AF65-F5344CB8AC3E}">
        <p14:creationId xmlns:p14="http://schemas.microsoft.com/office/powerpoint/2010/main" val="18523425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B2664-EED6-C2A8-EE85-3C209F096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E2580-A978-C8B5-5A2E-6355DA618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5418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9CE5-8362-7AEF-8B3C-370ED2D39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Another Table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EEDE2-73C1-4F31-A9DB-4AB27975D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847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Persons (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PersonID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int,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LastName varchar(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FirstName varchar(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Address varchar(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City varchar(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2C0E58-06B6-5ACB-67C4-A14D321AE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78" y="4673907"/>
            <a:ext cx="10288267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3384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40404-366A-0AAF-0330-D9A892944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77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MySQL DROP TABLE Statement</a:t>
            </a:r>
            <a:br>
              <a:rPr lang="en-IN" sz="28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</a:b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FF3C3-C5C5-4049-D91F-BB43C4930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102" y="1253331"/>
            <a:ext cx="11598897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DROP TABLE statement is used to drop an existing table in a database.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Syntax</a:t>
            </a:r>
          </a:p>
          <a:p>
            <a:pPr marL="0" indent="0">
              <a:buNone/>
            </a:pPr>
            <a:r>
              <a:rPr lang="en-US" dirty="0"/>
              <a:t>DROP TABLE </a:t>
            </a:r>
            <a:r>
              <a:rPr lang="en-US" dirty="0" err="1"/>
              <a:t>table_name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drop table </a:t>
            </a:r>
            <a:r>
              <a:rPr lang="en-US" dirty="0">
                <a:solidFill>
                  <a:srgbClr val="C00000"/>
                </a:solidFill>
              </a:rPr>
              <a:t>Person</a:t>
            </a:r>
            <a:r>
              <a:rPr lang="en-US" dirty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79812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18C5D-BEF7-F9A6-4DF4-4D5505DF4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23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b="0" i="0" dirty="0">
                <a:solidFill>
                  <a:schemeClr val="bg1"/>
                </a:solidFill>
                <a:effectLst/>
                <a:latin typeface="erdana"/>
              </a:rPr>
              <a:t>SQL ALTER TABLE</a:t>
            </a:r>
            <a:br>
              <a:rPr lang="en-IN" b="0" i="0" dirty="0">
                <a:solidFill>
                  <a:schemeClr val="bg1"/>
                </a:solidFill>
                <a:effectLst/>
                <a:latin typeface="erdana"/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DE8A2-9BB8-409E-1A5D-58F4D95D4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0643"/>
            <a:ext cx="10515600" cy="5036320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rgbClr val="C00000"/>
                </a:solidFill>
                <a:latin typeface="inter-regular"/>
              </a:rPr>
              <a:t>ALTER TABLE statement in Structured Query Language allows you to add, modify, and delete columns of an existing table.</a:t>
            </a:r>
          </a:p>
          <a:p>
            <a:r>
              <a:rPr lang="en-US" sz="2000" dirty="0">
                <a:solidFill>
                  <a:srgbClr val="333333"/>
                </a:solidFill>
                <a:latin typeface="inter-regular"/>
              </a:rPr>
              <a:t>This statement also allows database users to add and remove various SQL constraints on the existing tables.</a:t>
            </a:r>
          </a:p>
          <a:p>
            <a:endParaRPr lang="en-US" sz="2000" dirty="0">
              <a:solidFill>
                <a:srgbClr val="333333"/>
              </a:solidFill>
              <a:latin typeface="inter-regular"/>
            </a:endParaRPr>
          </a:p>
          <a:p>
            <a:r>
              <a:rPr lang="en-US" sz="2000" dirty="0">
                <a:solidFill>
                  <a:srgbClr val="610B38"/>
                </a:solidFill>
                <a:latin typeface="erdana"/>
              </a:rPr>
              <a:t>ALTER TABLE ADD Column statement in SQL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inter-regular"/>
              </a:rPr>
              <a:t>           </a:t>
            </a:r>
            <a:r>
              <a:rPr lang="en-US" sz="1600" dirty="0">
                <a:solidFill>
                  <a:srgbClr val="000000"/>
                </a:solidFill>
                <a:latin typeface="inter-regular"/>
              </a:rPr>
              <a:t>ALTER TABLE </a:t>
            </a:r>
            <a:r>
              <a:rPr lang="en-US" sz="1600" dirty="0" err="1">
                <a:solidFill>
                  <a:srgbClr val="000000"/>
                </a:solidFill>
                <a:latin typeface="inter-regular"/>
              </a:rPr>
              <a:t>table_name</a:t>
            </a:r>
            <a:r>
              <a:rPr lang="en-US" sz="1600" dirty="0">
                <a:solidFill>
                  <a:srgbClr val="000000"/>
                </a:solidFill>
                <a:latin typeface="inter-regular"/>
              </a:rPr>
              <a:t> ADD </a:t>
            </a:r>
            <a:r>
              <a:rPr lang="en-US" sz="1600" dirty="0" err="1">
                <a:solidFill>
                  <a:srgbClr val="000000"/>
                </a:solidFill>
                <a:latin typeface="inter-regular"/>
              </a:rPr>
              <a:t>column_name</a:t>
            </a:r>
            <a:r>
              <a:rPr lang="en-US" sz="1600" dirty="0">
                <a:solidFill>
                  <a:srgbClr val="000000"/>
                </a:solidFill>
                <a:latin typeface="inter-regular"/>
              </a:rPr>
              <a:t> column-definition;  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inter-regular"/>
              </a:rPr>
              <a:t> 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inter-regular"/>
              </a:rPr>
              <a:t>      </a:t>
            </a:r>
            <a:r>
              <a:rPr lang="en-US" sz="2000" dirty="0">
                <a:solidFill>
                  <a:srgbClr val="000000"/>
                </a:solidFill>
                <a:latin typeface="inter-regular"/>
              </a:rPr>
              <a:t>alter table student </a:t>
            </a:r>
            <a:r>
              <a:rPr lang="en-US" sz="2000" b="1" dirty="0">
                <a:solidFill>
                  <a:srgbClr val="C00000"/>
                </a:solidFill>
                <a:latin typeface="inter-regular"/>
              </a:rPr>
              <a:t>add</a:t>
            </a:r>
            <a:r>
              <a:rPr lang="en-US" sz="2000" dirty="0">
                <a:solidFill>
                  <a:srgbClr val="000000"/>
                </a:solidFill>
                <a:latin typeface="inter-regular"/>
              </a:rPr>
              <a:t> city varchar(40);</a:t>
            </a:r>
          </a:p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latin typeface="inter-regular"/>
            </a:endParaRPr>
          </a:p>
          <a:p>
            <a:r>
              <a:rPr lang="en-US" sz="2000" dirty="0">
                <a:solidFill>
                  <a:srgbClr val="610B38"/>
                </a:solidFill>
                <a:latin typeface="erdana"/>
              </a:rPr>
              <a:t>ALTER TABLE MODIFY Column statement in SQL  - pending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inter-regular"/>
              </a:rPr>
              <a:t>         ALTER TABLE </a:t>
            </a:r>
            <a:r>
              <a:rPr lang="en-US" sz="1800" dirty="0" err="1">
                <a:solidFill>
                  <a:srgbClr val="000000"/>
                </a:solidFill>
                <a:latin typeface="inter-regular"/>
              </a:rPr>
              <a:t>table_name</a:t>
            </a:r>
            <a:r>
              <a:rPr lang="en-US" sz="1800" dirty="0">
                <a:solidFill>
                  <a:srgbClr val="000000"/>
                </a:solidFill>
                <a:latin typeface="inter-regular"/>
              </a:rPr>
              <a:t> MODIFY </a:t>
            </a:r>
            <a:r>
              <a:rPr lang="en-US" sz="1800" dirty="0" err="1">
                <a:solidFill>
                  <a:srgbClr val="000000"/>
                </a:solidFill>
                <a:latin typeface="inter-regular"/>
              </a:rPr>
              <a:t>column_name</a:t>
            </a:r>
            <a:r>
              <a:rPr lang="en-US" sz="1800" dirty="0">
                <a:solidFill>
                  <a:srgbClr val="000000"/>
                </a:solidFill>
                <a:latin typeface="inter-regular"/>
              </a:rPr>
              <a:t> column-definition;  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inter-regular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inter-regular"/>
              </a:rPr>
              <a:t>          alter table student </a:t>
            </a:r>
            <a:r>
              <a:rPr lang="en-US" sz="1800" b="1" dirty="0">
                <a:solidFill>
                  <a:srgbClr val="C00000"/>
                </a:solidFill>
                <a:latin typeface="inter-regular"/>
              </a:rPr>
              <a:t>modify</a:t>
            </a:r>
            <a:r>
              <a:rPr lang="en-US" sz="1800" dirty="0">
                <a:solidFill>
                  <a:srgbClr val="000000"/>
                </a:solidFill>
                <a:latin typeface="inter-regular"/>
              </a:rPr>
              <a:t> address varchar(50);</a:t>
            </a:r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1582188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EE4C7-5E1A-0D40-A71E-5F6BFAFF8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09" y="30309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chemeClr val="bg1"/>
                </a:solidFill>
                <a:effectLst/>
                <a:latin typeface="erdana"/>
              </a:rPr>
              <a:t>SQL ALTER TABLE – Add column</a:t>
            </a:r>
            <a:br>
              <a:rPr lang="en-IN" b="0" i="0" dirty="0">
                <a:solidFill>
                  <a:schemeClr val="bg1"/>
                </a:solidFill>
                <a:effectLst/>
                <a:latin typeface="erdana"/>
              </a:rPr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A614CA-6B29-5B7B-6AB0-2EDB77AEC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886120"/>
            <a:ext cx="7620000" cy="32286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129445-C71A-EB61-8517-BE9E082C9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4092704"/>
            <a:ext cx="7620000" cy="238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197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DB704-36C5-4480-70C7-56F359196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77" y="-121533"/>
            <a:ext cx="10515600" cy="1325563"/>
          </a:xfrm>
        </p:spPr>
        <p:txBody>
          <a:bodyPr/>
          <a:lstStyle/>
          <a:p>
            <a:r>
              <a:rPr lang="en-IN" b="0" i="0" dirty="0">
                <a:solidFill>
                  <a:schemeClr val="bg1"/>
                </a:solidFill>
                <a:effectLst/>
                <a:latin typeface="erdana"/>
              </a:rPr>
              <a:t>SQL ALTER TABLE - Modify</a:t>
            </a:r>
            <a:br>
              <a:rPr lang="en-IN" b="0" i="0" dirty="0">
                <a:solidFill>
                  <a:schemeClr val="bg1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B3230-6EA2-1BC7-3CBA-2BAC1AB45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CE3966-E893-70B1-4936-BAEA9D9EE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350" y="873551"/>
            <a:ext cx="7964011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5687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91612-CEA6-6416-FF6D-B7900D615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Rename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DF752-E598-74A8-AF40-EFC82A88A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785" y="1253331"/>
            <a:ext cx="10515600" cy="435133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To rename a table in MySQL, you can use the RENAME </a:t>
            </a:r>
            <a:r>
              <a:rPr lang="en-US" dirty="0">
                <a:solidFill>
                  <a:srgbClr val="FF0000"/>
                </a:solidFill>
              </a:rPr>
              <a:t>TABLE or ALTER TABLE command.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dirty="0"/>
              <a:t>Using RENAME TABLE:</a:t>
            </a:r>
          </a:p>
          <a:p>
            <a:pPr marL="0" indent="0">
              <a:buNone/>
            </a:pPr>
            <a:r>
              <a:rPr lang="en-US" dirty="0"/>
              <a:t>           </a:t>
            </a:r>
            <a:r>
              <a:rPr lang="en-US" sz="2400" dirty="0"/>
              <a:t>RENAME TABLE </a:t>
            </a:r>
            <a:r>
              <a:rPr lang="en-US" sz="2400" dirty="0" err="1"/>
              <a:t>old_table_name</a:t>
            </a:r>
            <a:r>
              <a:rPr lang="en-US" sz="2400" dirty="0"/>
              <a:t> TO </a:t>
            </a:r>
            <a:r>
              <a:rPr lang="en-US" sz="2400" dirty="0" err="1"/>
              <a:t>new_table_name</a:t>
            </a:r>
            <a:r>
              <a:rPr lang="en-US" sz="2400" dirty="0"/>
              <a:t>;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25629B-3ECF-5171-18D9-75AF17AD9C50}"/>
              </a:ext>
            </a:extLst>
          </p:cNvPr>
          <p:cNvSpPr txBox="1"/>
          <p:nvPr/>
        </p:nvSpPr>
        <p:spPr>
          <a:xfrm>
            <a:off x="1175993" y="4641856"/>
            <a:ext cx="6160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 rename a table named </a:t>
            </a:r>
            <a:r>
              <a:rPr lang="en-IN" sz="2400" dirty="0">
                <a:solidFill>
                  <a:srgbClr val="C00000"/>
                </a:solidFill>
              </a:rPr>
              <a:t>users to customers</a:t>
            </a:r>
            <a:r>
              <a:rPr lang="en-IN" sz="2400" dirty="0"/>
              <a:t>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9C85F4-8595-8573-B9CA-31F87947C540}"/>
              </a:ext>
            </a:extLst>
          </p:cNvPr>
          <p:cNvSpPr txBox="1"/>
          <p:nvPr/>
        </p:nvSpPr>
        <p:spPr>
          <a:xfrm>
            <a:off x="1779309" y="5485911"/>
            <a:ext cx="6160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 RENAME TABLE users TO customers;</a:t>
            </a:r>
          </a:p>
        </p:txBody>
      </p:sp>
    </p:spTree>
    <p:extLst>
      <p:ext uri="{BB962C8B-B14F-4D97-AF65-F5344CB8AC3E}">
        <p14:creationId xmlns:p14="http://schemas.microsoft.com/office/powerpoint/2010/main" val="11009458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78197-A59B-DD35-0520-3CFBD6A4C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798" y="1071480"/>
            <a:ext cx="10515600" cy="4351338"/>
          </a:xfrm>
        </p:spPr>
        <p:txBody>
          <a:bodyPr/>
          <a:lstStyle/>
          <a:p>
            <a:r>
              <a:rPr lang="en-US" dirty="0" err="1"/>
              <a:t>Synax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rename</a:t>
            </a:r>
            <a:r>
              <a:rPr lang="en-US" dirty="0"/>
              <a:t> tables </a:t>
            </a:r>
            <a:r>
              <a:rPr lang="en-US" dirty="0">
                <a:solidFill>
                  <a:srgbClr val="C00000"/>
                </a:solidFill>
              </a:rPr>
              <a:t>products to items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orders to purchases</a:t>
            </a:r>
            <a:r>
              <a:rPr lang="en-US" dirty="0"/>
              <a:t>: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RENAME</a:t>
            </a:r>
            <a:r>
              <a:rPr lang="en-US" dirty="0"/>
              <a:t> TABLE products TO items, orders TO purchases;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4024F1-9729-7561-ED22-4CC1290168DC}"/>
              </a:ext>
            </a:extLst>
          </p:cNvPr>
          <p:cNvSpPr txBox="1"/>
          <p:nvPr/>
        </p:nvSpPr>
        <p:spPr>
          <a:xfrm>
            <a:off x="696797" y="140557"/>
            <a:ext cx="92767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Renaming multiple tables with RENAME TABLE: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2B1A0-60DD-2F41-B975-426BD6A14BA3}"/>
              </a:ext>
            </a:extLst>
          </p:cNvPr>
          <p:cNvSpPr txBox="1"/>
          <p:nvPr/>
        </p:nvSpPr>
        <p:spPr>
          <a:xfrm>
            <a:off x="696798" y="3543635"/>
            <a:ext cx="61604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0" i="0" dirty="0">
                <a:solidFill>
                  <a:srgbClr val="1F1F1F"/>
                </a:solidFill>
                <a:effectLst/>
                <a:latin typeface="Google Sans"/>
              </a:rPr>
              <a:t>DELETE vs TRUNCATE</a:t>
            </a:r>
            <a:endParaRPr lang="en-IN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394E77-422B-FF09-2F4F-64F90EB09224}"/>
              </a:ext>
            </a:extLst>
          </p:cNvPr>
          <p:cNvSpPr txBox="1"/>
          <p:nvPr/>
        </p:nvSpPr>
        <p:spPr>
          <a:xfrm>
            <a:off x="979602" y="4499488"/>
            <a:ext cx="102327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Google Sans"/>
              </a:rPr>
              <a:t>DELETE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 is a SQL command that removes one or multiple rows from a table using conditions. Using rollback retrieve 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 back in a transaction </a:t>
            </a:r>
          </a:p>
          <a:p>
            <a:endParaRPr lang="en-US" dirty="0">
              <a:solidFill>
                <a:srgbClr val="1F1F1F"/>
              </a:solidFill>
              <a:latin typeface="Google Sans"/>
            </a:endParaRPr>
          </a:p>
          <a:p>
            <a:r>
              <a:rPr lang="en-US" b="0" i="0" dirty="0">
                <a:solidFill>
                  <a:srgbClr val="FF0000"/>
                </a:solidFill>
                <a:effectLst/>
                <a:latin typeface="Google Sans"/>
              </a:rPr>
              <a:t>TRUNCATE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is a SQL command that removes all the rows from a table without using any condition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 cannot do rollback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113B41-C90D-3393-4681-11082E32C5F5}"/>
              </a:ext>
            </a:extLst>
          </p:cNvPr>
          <p:cNvSpPr txBox="1"/>
          <p:nvPr/>
        </p:nvSpPr>
        <p:spPr>
          <a:xfrm>
            <a:off x="1307968" y="6040117"/>
            <a:ext cx="6160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TRUNCATE TABLE employees;</a:t>
            </a:r>
          </a:p>
        </p:txBody>
      </p:sp>
    </p:spTree>
    <p:extLst>
      <p:ext uri="{BB962C8B-B14F-4D97-AF65-F5344CB8AC3E}">
        <p14:creationId xmlns:p14="http://schemas.microsoft.com/office/powerpoint/2010/main" val="9910538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24D06-A48A-B2F8-F599-51167EEF6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TCL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E7DB2-A8F7-27F8-10CD-1BACD8A1F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129" y="913966"/>
            <a:ext cx="10515600" cy="5458554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  <a:p>
            <a:r>
              <a:rPr lang="en-US" sz="3300" b="1" dirty="0">
                <a:solidFill>
                  <a:srgbClr val="C00000"/>
                </a:solidFill>
              </a:rPr>
              <a:t>COMMIT</a:t>
            </a:r>
            <a:r>
              <a:rPr lang="en-US" dirty="0"/>
              <a:t> command</a:t>
            </a:r>
          </a:p>
          <a:p>
            <a:pPr marL="0" indent="0">
              <a:buNone/>
            </a:pPr>
            <a:r>
              <a:rPr lang="en-US" dirty="0"/>
              <a:t>COMMIT command is used to permanently save any transaction into the database.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When we use any DML command like </a:t>
            </a:r>
            <a:r>
              <a:rPr lang="en-US" dirty="0">
                <a:solidFill>
                  <a:srgbClr val="C00000"/>
                </a:solidFill>
              </a:rPr>
              <a:t>INSERT, UPDATE or DELETE</a:t>
            </a:r>
            <a:r>
              <a:rPr lang="en-US" dirty="0"/>
              <a:t>, the changes made by these commands are </a:t>
            </a:r>
            <a:r>
              <a:rPr lang="en-US" dirty="0">
                <a:solidFill>
                  <a:srgbClr val="C00000"/>
                </a:solidFill>
              </a:rPr>
              <a:t>not permanent</a:t>
            </a:r>
            <a:r>
              <a:rPr lang="en-US" dirty="0"/>
              <a:t>, until the current session is closed, the changes made by these commands can be rolled back.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avoid that, we use the </a:t>
            </a:r>
            <a:r>
              <a:rPr lang="en-US" dirty="0">
                <a:solidFill>
                  <a:srgbClr val="C00000"/>
                </a:solidFill>
              </a:rPr>
              <a:t>COMMIT command </a:t>
            </a:r>
            <a:r>
              <a:rPr lang="en-US" dirty="0"/>
              <a:t>to mark the changes as permanent.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Mysql</a:t>
            </a:r>
            <a:r>
              <a:rPr lang="en-US" dirty="0"/>
              <a:t>&gt;</a:t>
            </a:r>
            <a:r>
              <a:rPr lang="en-US" b="1" dirty="0"/>
              <a:t>commit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b="1" dirty="0"/>
              <a:t>ROLLBACK command</a:t>
            </a:r>
          </a:p>
          <a:p>
            <a:pPr marL="0" indent="0">
              <a:buNone/>
            </a:pPr>
            <a:r>
              <a:rPr lang="en-US" dirty="0"/>
              <a:t>This command </a:t>
            </a:r>
            <a:r>
              <a:rPr lang="en-US" dirty="0">
                <a:solidFill>
                  <a:srgbClr val="C00000"/>
                </a:solidFill>
              </a:rPr>
              <a:t>restores</a:t>
            </a:r>
            <a:r>
              <a:rPr lang="en-US" dirty="0"/>
              <a:t> the database to last </a:t>
            </a:r>
            <a:r>
              <a:rPr lang="en-US" dirty="0" err="1"/>
              <a:t>commited</a:t>
            </a:r>
            <a:r>
              <a:rPr lang="en-US" dirty="0"/>
              <a:t> state.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mysql</a:t>
            </a:r>
            <a:r>
              <a:rPr lang="en-US" dirty="0"/>
              <a:t>&gt;rollback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4594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0AC28-DC88-47FD-C456-6D7AD27A2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61DDC-F49F-A489-0164-71694AF84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0410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EFF3A-7F8D-0BCF-3F66-CE65D19E1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23" y="18012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DDL – Data Definition Language</a:t>
            </a:r>
            <a:br>
              <a:rPr lang="en-US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72618-CF0A-5315-03B3-001048332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341" y="1391992"/>
            <a:ext cx="10879318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Problem Statement: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Create a database named</a:t>
            </a:r>
            <a:r>
              <a:rPr lang="en-US" sz="2400" b="1" dirty="0"/>
              <a:t> </a:t>
            </a:r>
            <a:r>
              <a:rPr lang="en-US" sz="2400" b="1" dirty="0" err="1"/>
              <a:t>CompanyDB</a:t>
            </a:r>
            <a:r>
              <a:rPr lang="en-US" sz="2400" b="1" dirty="0"/>
              <a:t> </a:t>
            </a:r>
            <a:r>
              <a:rPr lang="en-US" sz="2400" dirty="0"/>
              <a:t>and a table </a:t>
            </a:r>
            <a:r>
              <a:rPr lang="en-US" sz="2400" b="1" dirty="0"/>
              <a:t>Employee</a:t>
            </a:r>
            <a:r>
              <a:rPr lang="en-US" sz="2400" dirty="0"/>
              <a:t> to store employee details </a:t>
            </a:r>
            <a:r>
              <a:rPr lang="en-US" sz="2400" b="1" dirty="0"/>
              <a:t>.</a:t>
            </a:r>
            <a:r>
              <a:rPr lang="en-US" sz="2400" dirty="0"/>
              <a:t>Perform structure-related operations like </a:t>
            </a:r>
            <a:r>
              <a:rPr lang="en-US" sz="2400" b="1" dirty="0"/>
              <a:t>create</a:t>
            </a:r>
            <a:r>
              <a:rPr lang="en-US" sz="2400" dirty="0"/>
              <a:t>, </a:t>
            </a:r>
            <a:r>
              <a:rPr lang="en-US" sz="2400" b="1" dirty="0"/>
              <a:t>alter</a:t>
            </a:r>
            <a:r>
              <a:rPr lang="en-US" sz="2400" dirty="0"/>
              <a:t>, and </a:t>
            </a:r>
            <a:r>
              <a:rPr lang="en-US" sz="2400" b="1" dirty="0"/>
              <a:t>drop</a:t>
            </a:r>
            <a:r>
              <a:rPr lang="en-US" sz="2400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Column </a:t>
            </a:r>
            <a:r>
              <a:rPr lang="en-US" sz="2400" dirty="0" err="1"/>
              <a:t>empid,empname</a:t>
            </a:r>
            <a:r>
              <a:rPr lang="en-US" sz="2400" dirty="0"/>
              <a:t>, department, salary decimal(10,2),</a:t>
            </a:r>
          </a:p>
          <a:p>
            <a:pPr marL="0" indent="0">
              <a:buNone/>
            </a:pPr>
            <a:r>
              <a:rPr lang="en-US" sz="2400" dirty="0"/>
              <a:t>     </a:t>
            </a:r>
            <a:r>
              <a:rPr lang="en-US" sz="2400" dirty="0" err="1"/>
              <a:t>joindate</a:t>
            </a:r>
            <a:r>
              <a:rPr lang="en-US" sz="2400" dirty="0"/>
              <a:t> DATE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04654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09BDC-649C-01F9-F794-CAA4DA327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10EA1-5D61-9E70-ADBB-78A5B3725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9241"/>
            <a:ext cx="10515600" cy="517772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Step 1:</a:t>
            </a:r>
            <a:r>
              <a:rPr lang="en-US" dirty="0"/>
              <a:t> </a:t>
            </a:r>
            <a:r>
              <a:rPr lang="en-US" b="1" dirty="0"/>
              <a:t>Create Database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DATABASE </a:t>
            </a:r>
            <a:r>
              <a:rPr lang="en-US" dirty="0" err="1"/>
              <a:t>CompanyDB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USE </a:t>
            </a:r>
            <a:r>
              <a:rPr lang="en-US" dirty="0" err="1"/>
              <a:t>CompanyDB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Step 2:</a:t>
            </a:r>
            <a:r>
              <a:rPr lang="en-US" dirty="0"/>
              <a:t> </a:t>
            </a:r>
            <a:r>
              <a:rPr lang="en-US" b="1" dirty="0"/>
              <a:t>Create Table (No Primary Key)</a:t>
            </a:r>
          </a:p>
          <a:p>
            <a:pPr marL="0" indent="0">
              <a:buNone/>
            </a:pPr>
            <a:r>
              <a:rPr lang="en-US" dirty="0"/>
              <a:t>CREATE TABLE Employee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emp_id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emp_name</a:t>
            </a:r>
            <a:r>
              <a:rPr lang="en-US" dirty="0"/>
              <a:t> VARCHAR(50),</a:t>
            </a:r>
          </a:p>
          <a:p>
            <a:pPr marL="0" indent="0">
              <a:buNone/>
            </a:pPr>
            <a:r>
              <a:rPr lang="en-US" dirty="0"/>
              <a:t>    department VARCHAR(30),</a:t>
            </a:r>
          </a:p>
          <a:p>
            <a:pPr marL="0" indent="0">
              <a:buNone/>
            </a:pPr>
            <a:r>
              <a:rPr lang="en-US" dirty="0"/>
              <a:t>    salary DECIMAL(10,2),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join_date</a:t>
            </a:r>
            <a:r>
              <a:rPr lang="en-US" dirty="0"/>
              <a:t> DATE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54236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94742-690A-C6D3-784E-DC49BF0DF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954E3-B38B-EF52-07C3-1C58BE167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9240"/>
            <a:ext cx="10515600" cy="56560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Step 3:</a:t>
            </a:r>
            <a:r>
              <a:rPr lang="en-IN" dirty="0"/>
              <a:t> </a:t>
            </a:r>
            <a:r>
              <a:rPr lang="en-IN" b="1" dirty="0"/>
              <a:t>Add a Column (email)</a:t>
            </a:r>
          </a:p>
          <a:p>
            <a:pPr marL="0" indent="0">
              <a:buNone/>
            </a:pPr>
            <a:r>
              <a:rPr lang="en-IN" dirty="0"/>
              <a:t>ALTER TABLE Employee ADD COLUMN email VARCHAR(100);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Step 4:</a:t>
            </a:r>
            <a:r>
              <a:rPr lang="en-IN" dirty="0"/>
              <a:t> </a:t>
            </a:r>
            <a:r>
              <a:rPr lang="en-IN" b="1" dirty="0"/>
              <a:t>Modify Column Data Type</a:t>
            </a:r>
          </a:p>
          <a:p>
            <a:pPr marL="0" indent="0">
              <a:buNone/>
            </a:pPr>
            <a:r>
              <a:rPr lang="en-IN" dirty="0"/>
              <a:t>ALTER TABLE Employee MODIFY COLUMN salary DECIMAL(12,2);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Step 5:</a:t>
            </a:r>
            <a:r>
              <a:rPr lang="en-IN" dirty="0"/>
              <a:t> </a:t>
            </a:r>
            <a:r>
              <a:rPr lang="en-IN" b="1" dirty="0"/>
              <a:t>Drop a Column (email)</a:t>
            </a:r>
          </a:p>
          <a:p>
            <a:pPr marL="0" indent="0">
              <a:buNone/>
            </a:pPr>
            <a:r>
              <a:rPr lang="en-IN" dirty="0"/>
              <a:t>ALTER TABLE Employee DROP COLUMN email;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Step 6:</a:t>
            </a:r>
            <a:r>
              <a:rPr lang="en-IN" dirty="0"/>
              <a:t> </a:t>
            </a:r>
            <a:r>
              <a:rPr lang="en-IN" b="1" dirty="0"/>
              <a:t>View Table Structure</a:t>
            </a:r>
          </a:p>
          <a:p>
            <a:pPr marL="0" indent="0">
              <a:buNone/>
            </a:pPr>
            <a:r>
              <a:rPr lang="en-IN" dirty="0"/>
              <a:t>DESC Employee;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Step 7:</a:t>
            </a:r>
            <a:r>
              <a:rPr lang="en-IN" dirty="0"/>
              <a:t> </a:t>
            </a:r>
            <a:r>
              <a:rPr lang="en-IN" b="1" dirty="0"/>
              <a:t>Drop Table</a:t>
            </a:r>
          </a:p>
          <a:p>
            <a:pPr marL="0" indent="0">
              <a:buNone/>
            </a:pPr>
            <a:r>
              <a:rPr lang="en-IN" dirty="0"/>
              <a:t>DROP TABLE Employee;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11439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154C5-4528-6C8E-3AFE-2A73B00D3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solidFill>
                  <a:schemeClr val="bg1"/>
                </a:solidFill>
              </a:rPr>
              <a:t>Desc</a:t>
            </a:r>
            <a:r>
              <a:rPr lang="en-IN" dirty="0">
                <a:solidFill>
                  <a:schemeClr val="bg1"/>
                </a:solidFill>
              </a:rPr>
              <a:t> employee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A57E62-117E-7C33-222E-30E95617E5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5651109"/>
              </p:ext>
            </p:extLst>
          </p:nvPr>
        </p:nvGraphicFramePr>
        <p:xfrm>
          <a:off x="490194" y="1904773"/>
          <a:ext cx="10571375" cy="2377440"/>
        </p:xfrm>
        <a:graphic>
          <a:graphicData uri="http://schemas.openxmlformats.org/drawingml/2006/table">
            <a:tbl>
              <a:tblPr/>
              <a:tblGrid>
                <a:gridCol w="1808375">
                  <a:extLst>
                    <a:ext uri="{9D8B030D-6E8A-4147-A177-3AD203B41FA5}">
                      <a16:colId xmlns:a16="http://schemas.microsoft.com/office/drawing/2014/main" val="102846042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1532016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6516592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6935929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61044374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468038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Default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Extra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554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emp_id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844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emp_name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varchar(50)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478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department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varchar(30)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245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decimal(12,2)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515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join_date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70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3059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290D1-561D-329E-EA82-0108EA4CE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DML – Data Manipulation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E1551-5750-EAA9-7F66-C21C85F19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353" y="1272619"/>
            <a:ext cx="11576115" cy="5335571"/>
          </a:xfrm>
        </p:spPr>
        <p:txBody>
          <a:bodyPr>
            <a:normAutofit fontScale="92500"/>
          </a:bodyPr>
          <a:lstStyle/>
          <a:p>
            <a:r>
              <a:rPr lang="en-US" sz="2700" b="1" dirty="0"/>
              <a:t>Problem Statement 2:</a:t>
            </a:r>
          </a:p>
          <a:p>
            <a:pPr marL="0" indent="0">
              <a:buNone/>
            </a:pPr>
            <a:r>
              <a:rPr lang="en-US" sz="2700" dirty="0"/>
              <a:t>  Insert, update, delete, and retrieve employee records from the </a:t>
            </a:r>
            <a:r>
              <a:rPr lang="en-US" sz="2700" b="1" dirty="0"/>
              <a:t>Employee</a:t>
            </a:r>
            <a:r>
              <a:rPr lang="en-US" sz="2700" dirty="0"/>
              <a:t> table.</a:t>
            </a:r>
          </a:p>
          <a:p>
            <a:r>
              <a:rPr lang="en-US" sz="2700" b="1" dirty="0"/>
              <a:t>Problem Statement 3: </a:t>
            </a:r>
            <a:r>
              <a:rPr lang="en-US" sz="2700" dirty="0">
                <a:solidFill>
                  <a:srgbClr val="C00000"/>
                </a:solidFill>
              </a:rPr>
              <a:t>Display Employee Records</a:t>
            </a:r>
            <a:br>
              <a:rPr lang="en-US" sz="2700" dirty="0"/>
            </a:br>
            <a:r>
              <a:rPr lang="en-US" sz="2700" dirty="0"/>
              <a:t>Write an SQL query to display all employee records from the Employee table.</a:t>
            </a:r>
          </a:p>
          <a:p>
            <a:r>
              <a:rPr lang="en-US" sz="2700" b="1" dirty="0"/>
              <a:t>Problem Statement 4: </a:t>
            </a:r>
            <a:r>
              <a:rPr lang="en-US" sz="2700" dirty="0">
                <a:solidFill>
                  <a:srgbClr val="C00000"/>
                </a:solidFill>
              </a:rPr>
              <a:t>Update Employee Salary</a:t>
            </a:r>
            <a:br>
              <a:rPr lang="en-US" sz="2700" dirty="0"/>
            </a:br>
            <a:r>
              <a:rPr lang="en-US" sz="2700" dirty="0"/>
              <a:t>Write an SQL query to update Bob's salary to 58000.00.</a:t>
            </a:r>
          </a:p>
          <a:p>
            <a:r>
              <a:rPr lang="en-US" sz="2700" b="1" dirty="0"/>
              <a:t>Problem Statement 5: </a:t>
            </a:r>
            <a:r>
              <a:rPr lang="en-US" sz="2700" dirty="0">
                <a:solidFill>
                  <a:srgbClr val="C00000"/>
                </a:solidFill>
              </a:rPr>
              <a:t>Delete Employee Record</a:t>
            </a:r>
            <a:br>
              <a:rPr lang="en-US" sz="2700" dirty="0"/>
            </a:br>
            <a:r>
              <a:rPr lang="en-US" sz="2700" dirty="0"/>
              <a:t>Write an SQL query to delete the employee record of Alice.</a:t>
            </a:r>
          </a:p>
          <a:p>
            <a:r>
              <a:rPr lang="en-US" sz="2700" b="1" dirty="0"/>
              <a:t>Problem Statement 6: </a:t>
            </a:r>
            <a:r>
              <a:rPr lang="en-US" sz="2700" dirty="0">
                <a:solidFill>
                  <a:srgbClr val="C00000"/>
                </a:solidFill>
              </a:rPr>
              <a:t>Employees with Salary Greater Than 55000</a:t>
            </a:r>
            <a:br>
              <a:rPr lang="en-US" sz="2700" dirty="0"/>
            </a:br>
            <a:r>
              <a:rPr lang="en-US" sz="2700" dirty="0"/>
              <a:t>Write an SQL query to display employee details whose salary is greater than 55000.</a:t>
            </a:r>
          </a:p>
          <a:p>
            <a:r>
              <a:rPr lang="en-US" sz="2700" b="1" dirty="0"/>
              <a:t>Problem Statement 7: </a:t>
            </a:r>
            <a:r>
              <a:rPr lang="en-US" sz="2700" dirty="0">
                <a:solidFill>
                  <a:srgbClr val="C00000"/>
                </a:solidFill>
              </a:rPr>
              <a:t>Sort Employees by Salary</a:t>
            </a:r>
            <a:br>
              <a:rPr lang="en-US" sz="2700" dirty="0"/>
            </a:br>
            <a:r>
              <a:rPr lang="en-US" sz="2700" dirty="0"/>
              <a:t>Write an SQL query to display employee names and salaries in descending order of salary.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85545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3848-20C0-58A2-45BF-FD8D9BDD4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961D7-F383-296A-829E-0550CB491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035" y="1825625"/>
            <a:ext cx="11491273" cy="4351338"/>
          </a:xfrm>
        </p:spPr>
        <p:txBody>
          <a:bodyPr/>
          <a:lstStyle/>
          <a:p>
            <a:r>
              <a:rPr lang="en-IN" b="1" dirty="0"/>
              <a:t>Step 2:</a:t>
            </a:r>
            <a:r>
              <a:rPr lang="en-IN" dirty="0"/>
              <a:t> Insert Employee Data</a:t>
            </a:r>
          </a:p>
          <a:p>
            <a:pPr marL="0" indent="0">
              <a:buNone/>
            </a:pPr>
            <a:r>
              <a:rPr lang="en-IN" sz="2400" dirty="0"/>
              <a:t>INSERT INTO Employee (</a:t>
            </a:r>
            <a:r>
              <a:rPr lang="en-IN" sz="2400" dirty="0" err="1"/>
              <a:t>emp_id</a:t>
            </a:r>
            <a:r>
              <a:rPr lang="en-IN" sz="2400" dirty="0"/>
              <a:t>, </a:t>
            </a:r>
            <a:r>
              <a:rPr lang="en-IN" sz="2400" dirty="0" err="1"/>
              <a:t>emp_name</a:t>
            </a:r>
            <a:r>
              <a:rPr lang="en-IN" sz="2400" dirty="0"/>
              <a:t>, department, salary, </a:t>
            </a:r>
            <a:r>
              <a:rPr lang="en-IN" sz="2400" dirty="0" err="1"/>
              <a:t>join_date</a:t>
            </a:r>
            <a:r>
              <a:rPr lang="en-IN" sz="2400" dirty="0"/>
              <a:t>)</a:t>
            </a:r>
          </a:p>
          <a:p>
            <a:pPr marL="0" indent="0">
              <a:buNone/>
            </a:pPr>
            <a:r>
              <a:rPr lang="en-IN" sz="2400" dirty="0"/>
              <a:t>VALUES </a:t>
            </a:r>
          </a:p>
          <a:p>
            <a:pPr marL="0" indent="0">
              <a:buNone/>
            </a:pPr>
            <a:r>
              <a:rPr lang="en-IN" sz="2400" dirty="0"/>
              <a:t>(101, 'Alice', 'HR', 45000.00, '2022-01-10'),</a:t>
            </a:r>
          </a:p>
          <a:p>
            <a:pPr marL="0" indent="0">
              <a:buNone/>
            </a:pPr>
            <a:r>
              <a:rPr lang="en-IN" sz="2400" dirty="0"/>
              <a:t>(102, 'Bob', 'IT', 55000.00, '2021-11-20'),</a:t>
            </a:r>
          </a:p>
          <a:p>
            <a:pPr marL="0" indent="0">
              <a:buNone/>
            </a:pPr>
            <a:r>
              <a:rPr lang="en-IN" sz="2400" dirty="0"/>
              <a:t>(103, 'Charlie', 'Finance', 60000.00, '2023-03-15'),</a:t>
            </a:r>
          </a:p>
          <a:p>
            <a:pPr marL="0" indent="0">
              <a:buNone/>
            </a:pPr>
            <a:r>
              <a:rPr lang="en-IN" sz="2400" dirty="0"/>
              <a:t>(104, 'David', 'IT', 70000.00, '2023-06-01');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96093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77CB4-CF2B-98D7-A272-09EF56068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811" y="1119188"/>
            <a:ext cx="10515600" cy="490511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Step 3:</a:t>
            </a:r>
            <a:r>
              <a:rPr lang="en-US" dirty="0"/>
              <a:t> Display All Records</a:t>
            </a:r>
          </a:p>
          <a:p>
            <a:pPr marL="0" indent="0">
              <a:buNone/>
            </a:pPr>
            <a:r>
              <a:rPr lang="en-US" dirty="0"/>
              <a:t>SELECT * FROM Employee;</a:t>
            </a:r>
          </a:p>
          <a:p>
            <a:endParaRPr lang="en-IN" dirty="0"/>
          </a:p>
          <a:p>
            <a:r>
              <a:rPr lang="en-US" b="1" dirty="0"/>
              <a:t>Step 4:</a:t>
            </a:r>
            <a:r>
              <a:rPr lang="en-US" dirty="0"/>
              <a:t> Update Salary of Bob</a:t>
            </a:r>
          </a:p>
          <a:p>
            <a:pPr marL="0" indent="0">
              <a:buNone/>
            </a:pPr>
            <a:r>
              <a:rPr lang="en-US" dirty="0"/>
              <a:t>UPDATE Employee SET salary = 58000.00 WHERE </a:t>
            </a:r>
            <a:r>
              <a:rPr lang="en-US" dirty="0" err="1"/>
              <a:t>emp_name</a:t>
            </a:r>
            <a:r>
              <a:rPr lang="en-US" dirty="0"/>
              <a:t> = 'Bob’;</a:t>
            </a:r>
          </a:p>
          <a:p>
            <a:endParaRPr lang="en-US" dirty="0"/>
          </a:p>
          <a:p>
            <a:r>
              <a:rPr lang="en-US" b="1" dirty="0"/>
              <a:t>Step 5:</a:t>
            </a:r>
            <a:r>
              <a:rPr lang="en-US" dirty="0"/>
              <a:t> Delete Employee “Alice”</a:t>
            </a:r>
          </a:p>
          <a:p>
            <a:pPr marL="0" indent="0">
              <a:buNone/>
            </a:pPr>
            <a:r>
              <a:rPr lang="en-US" dirty="0"/>
              <a:t>DELETE FROM Employee WHERE </a:t>
            </a:r>
            <a:r>
              <a:rPr lang="en-US" dirty="0" err="1"/>
              <a:t>emp_name</a:t>
            </a:r>
            <a:r>
              <a:rPr lang="en-US" dirty="0"/>
              <a:t> = 'Alice’;</a:t>
            </a:r>
          </a:p>
          <a:p>
            <a:endParaRPr lang="en-US" dirty="0"/>
          </a:p>
          <a:p>
            <a:r>
              <a:rPr lang="en-US" b="1" dirty="0"/>
              <a:t>Step 6:</a:t>
            </a:r>
            <a:r>
              <a:rPr lang="en-US" dirty="0"/>
              <a:t> Retrieve Employees With Salary &gt; 55000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emp_name</a:t>
            </a:r>
            <a:r>
              <a:rPr lang="en-US" dirty="0"/>
              <a:t>, department, salary FROM Employee WHERE salary &gt; 55000;</a:t>
            </a:r>
          </a:p>
          <a:p>
            <a:endParaRPr lang="en-US" b="1" dirty="0"/>
          </a:p>
          <a:p>
            <a:r>
              <a:rPr lang="en-US" b="1" dirty="0"/>
              <a:t>Step 7:</a:t>
            </a:r>
            <a:r>
              <a:rPr lang="en-US" dirty="0"/>
              <a:t> Sort Employees by Salary (Descending)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emp_name</a:t>
            </a:r>
            <a:r>
              <a:rPr lang="en-US" dirty="0"/>
              <a:t>, salary FROM Employee </a:t>
            </a:r>
            <a:r>
              <a:rPr lang="en-US" b="1" dirty="0"/>
              <a:t>ORDER BY </a:t>
            </a:r>
            <a:r>
              <a:rPr lang="en-US" dirty="0"/>
              <a:t>salary </a:t>
            </a:r>
            <a:r>
              <a:rPr lang="en-US" b="1" dirty="0"/>
              <a:t>DESC</a:t>
            </a:r>
            <a:r>
              <a:rPr lang="en-US" dirty="0"/>
              <a:t>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53409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46DF9-DFFC-8DA4-FF5E-EA699D431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Sample Input / Output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BDD206-8EA0-F101-3AFE-9E84F5FEF2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2512149"/>
              </p:ext>
            </p:extLst>
          </p:nvPr>
        </p:nvGraphicFramePr>
        <p:xfrm>
          <a:off x="838200" y="2379884"/>
          <a:ext cx="10515600" cy="1828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144852488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7821252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1428300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918630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13330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emp_name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department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join_date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626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45000.00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2022-01-10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706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55000.00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2021-11-20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025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Charlie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60000.00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2023-03-15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049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David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70000.00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2023-06-01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55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F3216B4-9065-D9BE-6A05-0477D0028C05}"/>
              </a:ext>
            </a:extLst>
          </p:cNvPr>
          <p:cNvSpPr txBox="1"/>
          <p:nvPr/>
        </p:nvSpPr>
        <p:spPr>
          <a:xfrm>
            <a:off x="657518" y="1380204"/>
            <a:ext cx="6160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Input (After Insertion)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C4D2038-AAD2-4E73-7C39-E9722ABBD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726869"/>
              </p:ext>
            </p:extLst>
          </p:nvPr>
        </p:nvGraphicFramePr>
        <p:xfrm>
          <a:off x="904188" y="5287110"/>
          <a:ext cx="10515600" cy="14630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6378329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051663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4883075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417860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96336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emp_name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department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join_date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330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58000.00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2021-11-20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371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Charlie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60000.00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2023-03-15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595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David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70000.00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2023-06-01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8574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1417812-C523-47BD-8EC7-C8DB2C17097F}"/>
              </a:ext>
            </a:extLst>
          </p:cNvPr>
          <p:cNvSpPr txBox="1"/>
          <p:nvPr/>
        </p:nvSpPr>
        <p:spPr>
          <a:xfrm>
            <a:off x="838200" y="4438922"/>
            <a:ext cx="6160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Output (After Update &amp; Delete)</a:t>
            </a:r>
          </a:p>
        </p:txBody>
      </p:sp>
    </p:spTree>
    <p:extLst>
      <p:ext uri="{BB962C8B-B14F-4D97-AF65-F5344CB8AC3E}">
        <p14:creationId xmlns:p14="http://schemas.microsoft.com/office/powerpoint/2010/main" val="19634811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D7E1E-21E5-94F3-8BB6-5D757ABB7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030" y="104709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COMPANY – EMPLOYEE MYSQL TCL PRACTICE SHEET</a:t>
            </a:r>
            <a:br>
              <a:rPr lang="en-US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6AA06-5997-AA6C-782E-70D062501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530" y="1589955"/>
            <a:ext cx="11426072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About TCL</a:t>
            </a:r>
          </a:p>
          <a:p>
            <a:endParaRPr lang="en-US" dirty="0"/>
          </a:p>
          <a:p>
            <a:r>
              <a:rPr lang="en-US" dirty="0"/>
              <a:t>TCL (Transaction Control Language) commands manage transactions in a database.</a:t>
            </a:r>
          </a:p>
          <a:p>
            <a:r>
              <a:rPr lang="en-US" dirty="0"/>
              <a:t>They control how and when data modifications are saved or undone.</a:t>
            </a:r>
          </a:p>
          <a:p>
            <a:endParaRPr lang="en-US" b="1" dirty="0"/>
          </a:p>
          <a:p>
            <a:r>
              <a:rPr lang="en-US" b="1" dirty="0"/>
              <a:t>Command	Purpose</a:t>
            </a:r>
          </a:p>
          <a:p>
            <a:r>
              <a:rPr lang="en-US" dirty="0">
                <a:solidFill>
                  <a:srgbClr val="C00000"/>
                </a:solidFill>
              </a:rPr>
              <a:t>COMMIT</a:t>
            </a:r>
            <a:r>
              <a:rPr lang="en-US" dirty="0"/>
              <a:t>	Save all changes permanently</a:t>
            </a:r>
          </a:p>
          <a:p>
            <a:r>
              <a:rPr lang="en-US" dirty="0">
                <a:solidFill>
                  <a:srgbClr val="C00000"/>
                </a:solidFill>
              </a:rPr>
              <a:t>ROLLBACK</a:t>
            </a:r>
            <a:r>
              <a:rPr lang="en-US" dirty="0"/>
              <a:t>	Undo changes made in the current transaction</a:t>
            </a:r>
          </a:p>
          <a:p>
            <a:r>
              <a:rPr lang="en-US" dirty="0">
                <a:solidFill>
                  <a:srgbClr val="C00000"/>
                </a:solidFill>
              </a:rPr>
              <a:t>SAVEPOINT</a:t>
            </a:r>
            <a:r>
              <a:rPr lang="en-US" dirty="0"/>
              <a:t>	Set a point within a transaction to roll back to</a:t>
            </a:r>
          </a:p>
          <a:p>
            <a:r>
              <a:rPr lang="en-US" dirty="0">
                <a:solidFill>
                  <a:srgbClr val="C00000"/>
                </a:solidFill>
              </a:rPr>
              <a:t>SET AUTOCOMMIT</a:t>
            </a:r>
            <a:r>
              <a:rPr lang="en-US" dirty="0"/>
              <a:t>	Enable or disable auto-commit mode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58073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9CC35-E3F7-F3EB-9E8B-7826E130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3" y="22333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Problem Statement</a:t>
            </a:r>
            <a:br>
              <a:rPr lang="en-US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F238C-2942-FA79-2222-16B282CEF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963" y="970962"/>
            <a:ext cx="11353800" cy="607086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You are managing the Employee table in the </a:t>
            </a:r>
            <a:r>
              <a:rPr lang="en-US" dirty="0" err="1"/>
              <a:t>CompanyDB</a:t>
            </a:r>
            <a:r>
              <a:rPr lang="en-US" dirty="0"/>
              <a:t> database.</a:t>
            </a:r>
            <a:br>
              <a:rPr lang="en-US" dirty="0"/>
            </a:br>
            <a:r>
              <a:rPr lang="en-US" dirty="0"/>
              <a:t>You must perform </a:t>
            </a:r>
            <a:r>
              <a:rPr lang="en-US" b="1" dirty="0"/>
              <a:t>insert</a:t>
            </a:r>
            <a:r>
              <a:rPr lang="en-US" dirty="0"/>
              <a:t>, </a:t>
            </a:r>
            <a:r>
              <a:rPr lang="en-US" b="1" dirty="0"/>
              <a:t>update</a:t>
            </a:r>
            <a:r>
              <a:rPr lang="en-US" dirty="0"/>
              <a:t>, and </a:t>
            </a:r>
            <a:r>
              <a:rPr lang="en-US" b="1" dirty="0"/>
              <a:t>delete</a:t>
            </a:r>
            <a:r>
              <a:rPr lang="en-US" dirty="0"/>
              <a:t> operations with </a:t>
            </a:r>
            <a:r>
              <a:rPr lang="en-US" b="1" dirty="0"/>
              <a:t>transaction control</a:t>
            </a:r>
            <a:br>
              <a:rPr lang="en-US" dirty="0"/>
            </a:br>
            <a:r>
              <a:rPr lang="en-US" dirty="0"/>
              <a:t>(using COMMIT, ROLLBACK, and SAVEPOINT).</a:t>
            </a:r>
          </a:p>
          <a:p>
            <a:endParaRPr lang="en-US" dirty="0"/>
          </a:p>
          <a:p>
            <a:r>
              <a:rPr lang="en-US" b="1" dirty="0"/>
              <a:t>Initial Setup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dirty="0"/>
              <a:t> Use the existing database and table (no primary key):</a:t>
            </a:r>
          </a:p>
          <a:p>
            <a:pPr marL="0" indent="0">
              <a:buNone/>
            </a:pPr>
            <a:r>
              <a:rPr lang="en-US" dirty="0"/>
              <a:t>USE </a:t>
            </a:r>
            <a:r>
              <a:rPr lang="en-US" dirty="0" err="1"/>
              <a:t>CompanyDB</a:t>
            </a:r>
            <a:r>
              <a:rPr lang="en-US" dirty="0"/>
              <a:t>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TABLE Employee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emp_id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emp_name</a:t>
            </a:r>
            <a:r>
              <a:rPr lang="en-US" dirty="0"/>
              <a:t> VARCHAR(50),</a:t>
            </a:r>
          </a:p>
          <a:p>
            <a:pPr marL="0" indent="0">
              <a:buNone/>
            </a:pPr>
            <a:r>
              <a:rPr lang="en-US" dirty="0"/>
              <a:t>    department VARCHAR(30),</a:t>
            </a:r>
          </a:p>
          <a:p>
            <a:pPr marL="0" indent="0">
              <a:buNone/>
            </a:pPr>
            <a:r>
              <a:rPr lang="en-US" dirty="0"/>
              <a:t>    salary DECIMAL(10,2),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join_date</a:t>
            </a:r>
            <a:r>
              <a:rPr lang="en-US" dirty="0"/>
              <a:t> DATE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01428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FC76C-585E-E8CB-579B-A29431246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Step-by-Step TCL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C7F73-BFDB-9A23-032C-0FEFF03E8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Disable Auto Commit</a:t>
            </a:r>
          </a:p>
          <a:p>
            <a:pPr marL="0" indent="0">
              <a:buNone/>
            </a:pPr>
            <a:r>
              <a:rPr lang="en-US" dirty="0"/>
              <a:t>By default, MySQL automatically commits after every statement.</a:t>
            </a:r>
            <a:br>
              <a:rPr lang="en-US" dirty="0"/>
            </a:br>
            <a:r>
              <a:rPr lang="en-US" dirty="0"/>
              <a:t>We disable it to control transactions manually.</a:t>
            </a:r>
          </a:p>
          <a:p>
            <a:pPr marL="0" indent="0">
              <a:buNone/>
            </a:pPr>
            <a:r>
              <a:rPr lang="en-US" dirty="0"/>
              <a:t>SET AUTOCOMMIT = 0;</a:t>
            </a:r>
          </a:p>
          <a:p>
            <a:endParaRPr lang="en-IN" dirty="0"/>
          </a:p>
          <a:p>
            <a:r>
              <a:rPr lang="en-US" i="1" dirty="0">
                <a:solidFill>
                  <a:srgbClr val="FF0000"/>
                </a:solidFill>
              </a:rPr>
              <a:t>Now changes will not be saved automatically.</a:t>
            </a:r>
            <a:endParaRPr lang="en-US" dirty="0">
              <a:solidFill>
                <a:srgbClr val="FF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52165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3101C-D59D-62B6-1AB4-87E17F212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2C33E-7DA0-29F3-2A4A-C65AB9005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Insert Sample Records</a:t>
            </a:r>
          </a:p>
          <a:p>
            <a:pPr marL="0" indent="0">
              <a:buNone/>
            </a:pPr>
            <a:r>
              <a:rPr lang="en-IN" dirty="0"/>
              <a:t>INSERT INTO Employee (</a:t>
            </a:r>
            <a:r>
              <a:rPr lang="en-IN" dirty="0" err="1"/>
              <a:t>emp_id</a:t>
            </a:r>
            <a:r>
              <a:rPr lang="en-IN" dirty="0"/>
              <a:t>, </a:t>
            </a:r>
            <a:r>
              <a:rPr lang="en-IN" dirty="0" err="1"/>
              <a:t>emp_name</a:t>
            </a:r>
            <a:r>
              <a:rPr lang="en-IN" dirty="0"/>
              <a:t>, department, salary, </a:t>
            </a:r>
            <a:r>
              <a:rPr lang="en-IN" dirty="0" err="1"/>
              <a:t>join_date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VALUES </a:t>
            </a:r>
          </a:p>
          <a:p>
            <a:pPr marL="0" indent="0">
              <a:buNone/>
            </a:pPr>
            <a:r>
              <a:rPr lang="en-IN" dirty="0"/>
              <a:t>(201, 'Arun', 'IT', 50000.00, '2023-01-10'),</a:t>
            </a:r>
          </a:p>
          <a:p>
            <a:pPr marL="0" indent="0">
              <a:buNone/>
            </a:pPr>
            <a:r>
              <a:rPr lang="en-IN" dirty="0"/>
              <a:t>(202, 'Bala', 'HR', 45000.00, '2023-02-05'),</a:t>
            </a:r>
          </a:p>
          <a:p>
            <a:pPr marL="0" indent="0">
              <a:buNone/>
            </a:pPr>
            <a:r>
              <a:rPr lang="en-IN" dirty="0"/>
              <a:t>(203, 'Chitra', 'Finance', 55000.00, '2023-03-12’);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i="1" dirty="0"/>
              <a:t>Data inserted, but not yet saved permanently.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58042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EE029-CB34-212D-C305-6E612D8B6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E0E9F-7CD8-0C05-3CBA-F97903D6C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Save Transaction (COMMIT)</a:t>
            </a:r>
          </a:p>
          <a:p>
            <a:r>
              <a:rPr lang="en-US" dirty="0"/>
              <a:t>COMMIT;</a:t>
            </a:r>
          </a:p>
          <a:p>
            <a:pPr marL="0" indent="0">
              <a:buNone/>
            </a:pPr>
            <a:r>
              <a:rPr lang="en-US" dirty="0"/>
              <a:t> All above inserts are now permanently saved.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Update with SAVEPOINT</a:t>
            </a:r>
          </a:p>
          <a:p>
            <a:pPr marL="0" indent="0">
              <a:buNone/>
            </a:pPr>
            <a:r>
              <a:rPr lang="en-US" dirty="0"/>
              <a:t>UPDATE Employee SET salary = 60000 WHERE </a:t>
            </a:r>
            <a:r>
              <a:rPr lang="en-US" dirty="0" err="1"/>
              <a:t>emp_name</a:t>
            </a:r>
            <a:r>
              <a:rPr lang="en-US" dirty="0"/>
              <a:t> = 'Arun';</a:t>
            </a:r>
          </a:p>
          <a:p>
            <a:pPr marL="0" indent="0">
              <a:buNone/>
            </a:pPr>
            <a:r>
              <a:rPr lang="en-US" dirty="0"/>
              <a:t>SAVEPOINT </a:t>
            </a:r>
            <a:r>
              <a:rPr lang="en-US" dirty="0" err="1"/>
              <a:t>BeforeDelete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i="1" dirty="0"/>
              <a:t>Created a </a:t>
            </a:r>
            <a:r>
              <a:rPr lang="en-US" i="1" dirty="0" err="1"/>
              <a:t>savepoint</a:t>
            </a:r>
            <a:r>
              <a:rPr lang="en-US" i="1" dirty="0"/>
              <a:t> “</a:t>
            </a:r>
            <a:r>
              <a:rPr lang="en-US" i="1" dirty="0" err="1"/>
              <a:t>BeforeDelete</a:t>
            </a:r>
            <a:r>
              <a:rPr lang="en-US" i="1" dirty="0"/>
              <a:t>”.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40166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47EA2-ECD7-0849-4E1B-20904A9DF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59C2D-0C67-4F63-9F8F-3CE729F30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Delete a Record</a:t>
            </a:r>
          </a:p>
          <a:p>
            <a:r>
              <a:rPr lang="en-IN" dirty="0"/>
              <a:t>DELETE FROM Employee WHERE </a:t>
            </a:r>
            <a:r>
              <a:rPr lang="en-IN" dirty="0" err="1"/>
              <a:t>emp_name</a:t>
            </a:r>
            <a:r>
              <a:rPr lang="en-IN" dirty="0"/>
              <a:t> = 'Bala';</a:t>
            </a:r>
          </a:p>
          <a:p>
            <a:r>
              <a:rPr lang="en-IN" dirty="0"/>
              <a:t> </a:t>
            </a:r>
            <a:r>
              <a:rPr lang="en-IN" i="1" dirty="0"/>
              <a:t>Record deleted temporarily (not yet committed).</a:t>
            </a:r>
            <a:endParaRPr lang="en-IN" dirty="0"/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 Rollback to </a:t>
            </a:r>
            <a:r>
              <a:rPr lang="en-IN" b="1" dirty="0" err="1"/>
              <a:t>Savepoint</a:t>
            </a:r>
            <a:endParaRPr lang="en-IN" b="1" dirty="0"/>
          </a:p>
          <a:p>
            <a:r>
              <a:rPr lang="en-IN" dirty="0"/>
              <a:t>ROLLBACK TO </a:t>
            </a:r>
            <a:r>
              <a:rPr lang="en-IN" dirty="0" err="1"/>
              <a:t>BeforeDelete</a:t>
            </a:r>
            <a:r>
              <a:rPr lang="en-IN" dirty="0"/>
              <a:t>;</a:t>
            </a:r>
          </a:p>
          <a:p>
            <a:r>
              <a:rPr lang="en-IN" i="1" dirty="0"/>
              <a:t>Undo deletion — Bala’s record restored.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26560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F3695-8C37-8349-6CF6-D44CF1F47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489CA-226A-3388-9CFD-EE4B2B075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Commit Final Changes</a:t>
            </a:r>
          </a:p>
          <a:p>
            <a:r>
              <a:rPr lang="en-US" dirty="0"/>
              <a:t>COMMIT;</a:t>
            </a:r>
          </a:p>
          <a:p>
            <a:pPr marL="0" indent="0">
              <a:buNone/>
            </a:pPr>
            <a:r>
              <a:rPr lang="en-US" i="1" dirty="0"/>
              <a:t>All changes up to this point are permanently saved.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 Enable Auto Commit Again</a:t>
            </a:r>
          </a:p>
          <a:p>
            <a:r>
              <a:rPr lang="en-US" dirty="0"/>
              <a:t>SET AUTOCOMMIT = 1;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73814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A6826-22E8-9AC6-433E-BEB96B1F0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380" y="2145352"/>
            <a:ext cx="11171548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400" dirty="0"/>
              <a:t> DDL – Table created</a:t>
            </a:r>
            <a:br>
              <a:rPr lang="en-IN" sz="2400" dirty="0"/>
            </a:br>
            <a:r>
              <a:rPr lang="en-IN" sz="2400" dirty="0"/>
              <a:t> DML – Data inserted/updated</a:t>
            </a:r>
          </a:p>
          <a:p>
            <a:pPr marL="0" indent="0">
              <a:buNone/>
            </a:pPr>
            <a:r>
              <a:rPr lang="en-IN" sz="2400" dirty="0"/>
              <a:t> DCL – User privileges controlled</a:t>
            </a:r>
            <a:br>
              <a:rPr lang="en-IN" sz="2400" dirty="0"/>
            </a:br>
            <a:r>
              <a:rPr lang="en-IN" sz="2400" dirty="0"/>
              <a:t> TCL – Transaction handled safely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15F10C-0916-4269-E8A8-D3BE4204E9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243981"/>
              </p:ext>
            </p:extLst>
          </p:nvPr>
        </p:nvGraphicFramePr>
        <p:xfrm>
          <a:off x="377072" y="952107"/>
          <a:ext cx="10722204" cy="3368914"/>
        </p:xfrm>
        <a:graphic>
          <a:graphicData uri="http://schemas.openxmlformats.org/drawingml/2006/table">
            <a:tbl>
              <a:tblPr/>
              <a:tblGrid>
                <a:gridCol w="3574068">
                  <a:extLst>
                    <a:ext uri="{9D8B030D-6E8A-4147-A177-3AD203B41FA5}">
                      <a16:colId xmlns:a16="http://schemas.microsoft.com/office/drawing/2014/main" val="3841077443"/>
                    </a:ext>
                  </a:extLst>
                </a:gridCol>
                <a:gridCol w="3574068">
                  <a:extLst>
                    <a:ext uri="{9D8B030D-6E8A-4147-A177-3AD203B41FA5}">
                      <a16:colId xmlns:a16="http://schemas.microsoft.com/office/drawing/2014/main" val="2373166107"/>
                    </a:ext>
                  </a:extLst>
                </a:gridCol>
                <a:gridCol w="3574068">
                  <a:extLst>
                    <a:ext uri="{9D8B030D-6E8A-4147-A177-3AD203B41FA5}">
                      <a16:colId xmlns:a16="http://schemas.microsoft.com/office/drawing/2014/main" val="1489551751"/>
                    </a:ext>
                  </a:extLst>
                </a:gridCol>
              </a:tblGrid>
              <a:tr h="4468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933734"/>
                  </a:ext>
                </a:extLst>
              </a:tr>
              <a:tr h="446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ourier New" panose="02070309020205020404" pitchFamily="49" charset="0"/>
                        </a:rPr>
                        <a:t>SET AUTOCOMMIT = 0;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Turn off auto-commit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Disable auto save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225490"/>
                  </a:ext>
                </a:extLst>
              </a:tr>
              <a:tr h="446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 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COMMIT;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Save all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COMMIT;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431393"/>
                  </a:ext>
                </a:extLst>
              </a:tr>
              <a:tr h="446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ourier New" panose="02070309020205020404" pitchFamily="49" charset="0"/>
                        </a:rPr>
                        <a:t>ROLLBACK;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Undo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ROLLBACK;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41884"/>
                  </a:ext>
                </a:extLst>
              </a:tr>
              <a:tr h="790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ourier New" panose="02070309020205020404" pitchFamily="49" charset="0"/>
                        </a:rPr>
                        <a:t>SAVEPOINT sp1;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Create a rollback 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SAVEPOINT BeforeDelete;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641175"/>
                  </a:ext>
                </a:extLst>
              </a:tr>
              <a:tr h="790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 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ROLLBACK TO sp1;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Undo up to savepoint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ourier New" panose="02070309020205020404" pitchFamily="49" charset="0"/>
                        </a:rPr>
                        <a:t>ROLLBACK TO </a:t>
                      </a:r>
                      <a:r>
                        <a:rPr lang="en-IN" sz="2000" dirty="0" err="1">
                          <a:latin typeface="Courier New" panose="02070309020205020404" pitchFamily="49" charset="0"/>
                        </a:rPr>
                        <a:t>BeforeDelete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;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02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5908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es Presentation" id="{88106A9F-17D8-45CC-97CF-533AC869E6A5}" vid="{ED94DA75-3826-48E7-9F99-5ABE9B17F2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Sales Presentation</Template>
  <TotalTime>2683</TotalTime>
  <Words>2662</Words>
  <Application>Microsoft Office PowerPoint</Application>
  <PresentationFormat>Widescreen</PresentationFormat>
  <Paragraphs>555</Paragraphs>
  <Slides>53</Slides>
  <Notes>1</Notes>
  <HiddenSlides>16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5" baseType="lpstr">
      <vt:lpstr>Arial</vt:lpstr>
      <vt:lpstr>Calibri</vt:lpstr>
      <vt:lpstr>Consolas</vt:lpstr>
      <vt:lpstr>Courier New</vt:lpstr>
      <vt:lpstr>erdana</vt:lpstr>
      <vt:lpstr>Georgia</vt:lpstr>
      <vt:lpstr>Google Sans</vt:lpstr>
      <vt:lpstr>inter-bold</vt:lpstr>
      <vt:lpstr>inter-regular</vt:lpstr>
      <vt:lpstr>Segoe UI</vt:lpstr>
      <vt:lpstr>Wingdings</vt:lpstr>
      <vt:lpstr>Office Theme</vt:lpstr>
      <vt:lpstr>PowerPoint Presentation</vt:lpstr>
      <vt:lpstr>What is SQL? </vt:lpstr>
      <vt:lpstr>PowerPoint Presentation</vt:lpstr>
      <vt:lpstr>Why SQL? </vt:lpstr>
      <vt:lpstr>What is a table?  </vt:lpstr>
      <vt:lpstr>PowerPoint Presentation</vt:lpstr>
      <vt:lpstr> </vt:lpstr>
      <vt:lpstr>1. DDL – Data Definition Language</vt:lpstr>
      <vt:lpstr>PowerPoint Presentation</vt:lpstr>
      <vt:lpstr>PowerPoint Presentation</vt:lpstr>
      <vt:lpstr>2.DML – Data Manipulation Language</vt:lpstr>
      <vt:lpstr>PowerPoint Presentation</vt:lpstr>
      <vt:lpstr>PowerPoint Presentation</vt:lpstr>
      <vt:lpstr> Problem Statement </vt:lpstr>
      <vt:lpstr>Sample Input &amp; Output</vt:lpstr>
      <vt:lpstr>Test Cases – Student Table</vt:lpstr>
      <vt:lpstr>PowerPoint Presentation</vt:lpstr>
      <vt:lpstr>PowerPoint Presentation</vt:lpstr>
      <vt:lpstr>PowerPoint Presentation</vt:lpstr>
      <vt:lpstr>  SQL Table </vt:lpstr>
      <vt:lpstr>Describe</vt:lpstr>
      <vt:lpstr>PowerPoint Presentation</vt:lpstr>
      <vt:lpstr>Select all record or data  :</vt:lpstr>
      <vt:lpstr>Select Command</vt:lpstr>
      <vt:lpstr>delete  particular record: The DELETE statement is used to delete existing records in a table.</vt:lpstr>
      <vt:lpstr>update particular data from database:</vt:lpstr>
      <vt:lpstr>drop table </vt:lpstr>
      <vt:lpstr>PowerPoint Presentation</vt:lpstr>
      <vt:lpstr>Another Table </vt:lpstr>
      <vt:lpstr>MySQL DROP TABLE Statement </vt:lpstr>
      <vt:lpstr>SQL ALTER TABLE </vt:lpstr>
      <vt:lpstr>SQL ALTER TABLE – Add column </vt:lpstr>
      <vt:lpstr>SQL ALTER TABLE - Modify </vt:lpstr>
      <vt:lpstr>Rename</vt:lpstr>
      <vt:lpstr>PowerPoint Presentation</vt:lpstr>
      <vt:lpstr>TCL</vt:lpstr>
      <vt:lpstr>PowerPoint Presentation</vt:lpstr>
      <vt:lpstr>DDL – Data Definition Language </vt:lpstr>
      <vt:lpstr>Queries</vt:lpstr>
      <vt:lpstr>PowerPoint Presentation</vt:lpstr>
      <vt:lpstr>Desc employee</vt:lpstr>
      <vt:lpstr>DML – Data Manipulation Language</vt:lpstr>
      <vt:lpstr>PowerPoint Presentation</vt:lpstr>
      <vt:lpstr>PowerPoint Presentation</vt:lpstr>
      <vt:lpstr>Sample Input / Output</vt:lpstr>
      <vt:lpstr>COMPANY – EMPLOYEE MYSQL TCL PRACTICE SHEET </vt:lpstr>
      <vt:lpstr>Problem Statement </vt:lpstr>
      <vt:lpstr>Step-by-Step TCL Operations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Arsh Banerjee</dc:creator>
  <cp:lastModifiedBy>Jayaprakash Subramaniam - Adjunct Faculty (WD)</cp:lastModifiedBy>
  <cp:revision>383</cp:revision>
  <dcterms:created xsi:type="dcterms:W3CDTF">2024-08-17T13:13:57Z</dcterms:created>
  <dcterms:modified xsi:type="dcterms:W3CDTF">2026-09-21T14:55:44Z</dcterms:modified>
</cp:coreProperties>
</file>